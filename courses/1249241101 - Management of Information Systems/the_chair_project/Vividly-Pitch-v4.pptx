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</p:sldIdLst>
  <p:sldSz cx="9144000" cy="51435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400">
        <a:latin typeface="+mj-lt"/>
        <a:ea typeface="+mj-ea"/>
        <a:cs typeface="+mj-cs"/>
        <a:sym typeface="Arial"/>
      </a:defRPr>
    </a:lvl1pPr>
    <a:lvl2pPr indent="228600" latinLnBrk="0">
      <a:defRPr sz="1400">
        <a:latin typeface="+mj-lt"/>
        <a:ea typeface="+mj-ea"/>
        <a:cs typeface="+mj-cs"/>
        <a:sym typeface="Arial"/>
      </a:defRPr>
    </a:lvl2pPr>
    <a:lvl3pPr indent="457200" latinLnBrk="0">
      <a:defRPr sz="1400">
        <a:latin typeface="+mj-lt"/>
        <a:ea typeface="+mj-ea"/>
        <a:cs typeface="+mj-cs"/>
        <a:sym typeface="Arial"/>
      </a:defRPr>
    </a:lvl3pPr>
    <a:lvl4pPr indent="685800" latinLnBrk="0">
      <a:defRPr sz="1400">
        <a:latin typeface="+mj-lt"/>
        <a:ea typeface="+mj-ea"/>
        <a:cs typeface="+mj-cs"/>
        <a:sym typeface="Arial"/>
      </a:defRPr>
    </a:lvl4pPr>
    <a:lvl5pPr indent="914400" latinLnBrk="0">
      <a:defRPr sz="1400">
        <a:latin typeface="+mj-lt"/>
        <a:ea typeface="+mj-ea"/>
        <a:cs typeface="+mj-cs"/>
        <a:sym typeface="Arial"/>
      </a:defRPr>
    </a:lvl5pPr>
    <a:lvl6pPr indent="1143000" latinLnBrk="0">
      <a:defRPr sz="1400">
        <a:latin typeface="+mj-lt"/>
        <a:ea typeface="+mj-ea"/>
        <a:cs typeface="+mj-cs"/>
        <a:sym typeface="Arial"/>
      </a:defRPr>
    </a:lvl6pPr>
    <a:lvl7pPr indent="1371600" latinLnBrk="0">
      <a:defRPr sz="1400">
        <a:latin typeface="+mj-lt"/>
        <a:ea typeface="+mj-ea"/>
        <a:cs typeface="+mj-cs"/>
        <a:sym typeface="Arial"/>
      </a:defRPr>
    </a:lvl7pPr>
    <a:lvl8pPr indent="1600200" latinLnBrk="0">
      <a:defRPr sz="1400">
        <a:latin typeface="+mj-lt"/>
        <a:ea typeface="+mj-ea"/>
        <a:cs typeface="+mj-cs"/>
        <a:sym typeface="Arial"/>
      </a:defRPr>
    </a:lvl8pPr>
    <a:lvl9pPr indent="1828800" latinLnBrk="0">
      <a:defRPr sz="1400">
        <a:latin typeface="+mj-lt"/>
        <a:ea typeface="+mj-ea"/>
        <a:cs typeface="+mj-cs"/>
        <a:sym typeface="Arial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457200" y="69056"/>
            <a:ext cx="8229600" cy="11310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457200" y="1200150"/>
            <a:ext cx="8229600" cy="3943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9pPr>
    </p:titleStyle>
    <p:body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16;p3"/>
          <p:cNvSpPr/>
          <p:nvPr/>
        </p:nvSpPr>
        <p:spPr>
          <a:xfrm>
            <a:off x="0" y="-1"/>
            <a:ext cx="9144000" cy="126901"/>
          </a:xfrm>
          <a:prstGeom prst="rect">
            <a:avLst/>
          </a:prstGeom>
          <a:solidFill>
            <a:srgbClr val="E07A5F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1" name="Google Shape;17;p3"/>
          <p:cNvSpPr txBox="1"/>
          <p:nvPr/>
        </p:nvSpPr>
        <p:spPr>
          <a:xfrm>
            <a:off x="571499" y="687585"/>
            <a:ext cx="4274822" cy="749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200">
                <a:solidFill>
                  <a:srgbClr val="2C2C2C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Vividly</a:t>
            </a:r>
          </a:p>
        </p:txBody>
      </p:sp>
      <p:sp>
        <p:nvSpPr>
          <p:cNvPr id="22" name="Google Shape;18;p3"/>
          <p:cNvSpPr txBox="1"/>
          <p:nvPr/>
        </p:nvSpPr>
        <p:spPr>
          <a:xfrm>
            <a:off x="571560" y="2322511"/>
            <a:ext cx="4274700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i="1" sz="1900">
                <a:solidFill>
                  <a:srgbClr val="E07A5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Independence. Dignity. Peace of Mind.</a:t>
            </a:r>
          </a:p>
        </p:txBody>
      </p:sp>
      <p:sp>
        <p:nvSpPr>
          <p:cNvPr id="23" name="Google Shape;19;p3"/>
          <p:cNvSpPr/>
          <p:nvPr/>
        </p:nvSpPr>
        <p:spPr>
          <a:xfrm>
            <a:off x="571500" y="1515585"/>
            <a:ext cx="4191000" cy="736501"/>
          </a:xfrm>
          <a:prstGeom prst="roundRect">
            <a:avLst>
              <a:gd name="adj" fmla="val 43107"/>
            </a:avLst>
          </a:prstGeom>
          <a:solidFill>
            <a:srgbClr val="87A96B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4" name="Google Shape;20;p3"/>
          <p:cNvSpPr txBox="1"/>
          <p:nvPr/>
        </p:nvSpPr>
        <p:spPr>
          <a:xfrm>
            <a:off x="888950" y="1642535"/>
            <a:ext cx="3627300" cy="482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pPr>
            <a:r>
              <a:t>VitalRide:</a:t>
            </a:r>
            <a:br/>
            <a:r>
              <a:t>Smart Autonomous Wheelchair</a:t>
            </a:r>
          </a:p>
        </p:txBody>
      </p:sp>
      <p:sp>
        <p:nvSpPr>
          <p:cNvPr id="25" name="Google Shape;21;p3"/>
          <p:cNvSpPr txBox="1"/>
          <p:nvPr/>
        </p:nvSpPr>
        <p:spPr>
          <a:xfrm>
            <a:off x="571499" y="3259037"/>
            <a:ext cx="4274822" cy="9067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60000"/>
              </a:lnSpc>
              <a:defRPr sz="1500">
                <a:solidFill>
                  <a:srgbClr val="5A5A5A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Revolutionizing elderly mobility with AI-powered navigation, continuous health monitoring, and connected care.</a:t>
            </a:r>
          </a:p>
        </p:txBody>
      </p:sp>
      <p:sp>
        <p:nvSpPr>
          <p:cNvPr id="26" name="Google Shape;23;p3"/>
          <p:cNvSpPr txBox="1"/>
          <p:nvPr/>
        </p:nvSpPr>
        <p:spPr>
          <a:xfrm>
            <a:off x="571499" y="4784823"/>
            <a:ext cx="1879799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Investor Presentation 2026</a:t>
            </a:r>
          </a:p>
        </p:txBody>
      </p:sp>
      <p:sp>
        <p:nvSpPr>
          <p:cNvPr id="27" name="Google Shape;24;p3"/>
          <p:cNvSpPr txBox="1"/>
          <p:nvPr/>
        </p:nvSpPr>
        <p:spPr>
          <a:xfrm>
            <a:off x="571498" y="530479"/>
            <a:ext cx="264570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100"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Transforming Comfy Chairs Ltd. into…</a:t>
            </a:r>
          </a:p>
        </p:txBody>
      </p:sp>
      <p:pic>
        <p:nvPicPr>
          <p:cNvPr id="28" name="Google Shape;25;p3" descr="Google Shape;25;p3"/>
          <p:cNvPicPr>
            <a:picLocks noChangeAspect="1"/>
          </p:cNvPicPr>
          <p:nvPr/>
        </p:nvPicPr>
        <p:blipFill>
          <a:blip r:embed="rId2">
            <a:extLst/>
          </a:blip>
          <a:srcRect l="28742" t="0" r="23526" b="3473"/>
          <a:stretch>
            <a:fillRect/>
          </a:stretch>
        </p:blipFill>
        <p:spPr>
          <a:xfrm>
            <a:off x="5495599" y="603038"/>
            <a:ext cx="3198150" cy="35280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2;p4"/>
          <p:cNvSpPr/>
          <p:nvPr/>
        </p:nvSpPr>
        <p:spPr>
          <a:xfrm>
            <a:off x="1619999" y="1073012"/>
            <a:ext cx="1391101" cy="903901"/>
          </a:xfrm>
          <a:prstGeom prst="roundRect">
            <a:avLst>
              <a:gd name="adj" fmla="val 7026"/>
            </a:avLst>
          </a:prstGeom>
          <a:solidFill>
            <a:srgbClr val="FDF6F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1" name="Google Shape;33;p4"/>
          <p:cNvSpPr/>
          <p:nvPr/>
        </p:nvSpPr>
        <p:spPr>
          <a:xfrm>
            <a:off x="1643812" y="1073013"/>
            <a:ext cx="1" cy="903900"/>
          </a:xfrm>
          <a:prstGeom prst="line">
            <a:avLst/>
          </a:prstGeom>
          <a:ln w="47625">
            <a:solidFill>
              <a:srgbClr val="E07A5F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32" name="Google Shape;34;p4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2C2C2C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3" name="Google Shape;35;p4"/>
          <p:cNvSpPr txBox="1"/>
          <p:nvPr/>
        </p:nvSpPr>
        <p:spPr>
          <a:xfrm>
            <a:off x="380999" y="152400"/>
            <a:ext cx="8549642" cy="259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800">
                <a:solidFill>
                  <a:srgbClr val="F4F1DE"/>
                </a:solidFill>
              </a:defRPr>
            </a:lvl1pPr>
          </a:lstStyle>
          <a:p>
            <a:pPr/>
            <a:r>
              <a:t>The Problem, Opportunity &amp; Solution</a:t>
            </a:r>
          </a:p>
        </p:txBody>
      </p:sp>
      <p:sp>
        <p:nvSpPr>
          <p:cNvPr id="34" name="Google Shape;36;p4"/>
          <p:cNvSpPr/>
          <p:nvPr/>
        </p:nvSpPr>
        <p:spPr>
          <a:xfrm>
            <a:off x="126950" y="647700"/>
            <a:ext cx="2884200" cy="324000"/>
          </a:xfrm>
          <a:prstGeom prst="roundRect">
            <a:avLst>
              <a:gd name="adj" fmla="val 19608"/>
            </a:avLst>
          </a:prstGeom>
          <a:solidFill>
            <a:srgbClr val="E07A5F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5" name="Google Shape;37;p4"/>
          <p:cNvSpPr txBox="1"/>
          <p:nvPr/>
        </p:nvSpPr>
        <p:spPr>
          <a:xfrm>
            <a:off x="253556" y="723900"/>
            <a:ext cx="2631002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THE AGING CRISIS</a:t>
            </a:r>
          </a:p>
        </p:txBody>
      </p:sp>
      <p:sp>
        <p:nvSpPr>
          <p:cNvPr id="36" name="Google Shape;38;p4"/>
          <p:cNvSpPr/>
          <p:nvPr/>
        </p:nvSpPr>
        <p:spPr>
          <a:xfrm>
            <a:off x="126950" y="1073050"/>
            <a:ext cx="1391100" cy="903901"/>
          </a:xfrm>
          <a:prstGeom prst="roundRect">
            <a:avLst>
              <a:gd name="adj" fmla="val 7026"/>
            </a:avLst>
          </a:prstGeom>
          <a:solidFill>
            <a:srgbClr val="FDF6F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7" name="Google Shape;39;p4"/>
          <p:cNvSpPr/>
          <p:nvPr/>
        </p:nvSpPr>
        <p:spPr>
          <a:xfrm flipH="1">
            <a:off x="150762" y="1073051"/>
            <a:ext cx="1" cy="903900"/>
          </a:xfrm>
          <a:prstGeom prst="line">
            <a:avLst/>
          </a:prstGeom>
          <a:ln w="47625">
            <a:solidFill>
              <a:srgbClr val="E07A5F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38" name="Google Shape;40;p4"/>
          <p:cNvSpPr txBox="1"/>
          <p:nvPr/>
        </p:nvSpPr>
        <p:spPr>
          <a:xfrm>
            <a:off x="290628" y="1174552"/>
            <a:ext cx="1111501" cy="259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800">
                <a:solidFill>
                  <a:srgbClr val="E07A5F"/>
                </a:solidFill>
              </a:defRPr>
            </a:lvl1pPr>
          </a:lstStyle>
          <a:p>
            <a:pPr/>
            <a:r>
              <a:t>2x</a:t>
            </a:r>
          </a:p>
        </p:txBody>
      </p:sp>
      <p:sp>
        <p:nvSpPr>
          <p:cNvPr id="39" name="Google Shape;41;p4"/>
          <p:cNvSpPr txBox="1"/>
          <p:nvPr/>
        </p:nvSpPr>
        <p:spPr>
          <a:xfrm>
            <a:off x="290628" y="1479352"/>
            <a:ext cx="1111501" cy="4061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130000"/>
              </a:lnSpc>
              <a:defRPr sz="800">
                <a:solidFill>
                  <a:srgbClr val="5A5A5A"/>
                </a:solidFill>
              </a:defRPr>
            </a:lvl1pPr>
          </a:lstStyle>
          <a:p>
            <a:pPr/>
            <a:r>
              <a:t>People 65+ will double by 2050 in Western countries</a:t>
            </a:r>
          </a:p>
        </p:txBody>
      </p:sp>
      <p:sp>
        <p:nvSpPr>
          <p:cNvPr id="40" name="Google Shape;42;p4"/>
          <p:cNvSpPr txBox="1"/>
          <p:nvPr/>
        </p:nvSpPr>
        <p:spPr>
          <a:xfrm>
            <a:off x="1788978" y="1225460"/>
            <a:ext cx="1111501" cy="2592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800">
                <a:solidFill>
                  <a:srgbClr val="E07A5F"/>
                </a:solidFill>
              </a:defRPr>
            </a:lvl1pPr>
          </a:lstStyle>
          <a:p>
            <a:pPr/>
            <a:r>
              <a:t>65M</a:t>
            </a:r>
          </a:p>
        </p:txBody>
      </p:sp>
      <p:sp>
        <p:nvSpPr>
          <p:cNvPr id="41" name="Google Shape;43;p4"/>
          <p:cNvSpPr txBox="1"/>
          <p:nvPr/>
        </p:nvSpPr>
        <p:spPr>
          <a:xfrm>
            <a:off x="1788978" y="1530260"/>
            <a:ext cx="1111501" cy="2585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130000"/>
              </a:lnSpc>
              <a:defRPr sz="800">
                <a:solidFill>
                  <a:srgbClr val="5A5A5A"/>
                </a:solidFill>
              </a:defRPr>
            </a:lvl1pPr>
          </a:lstStyle>
          <a:p>
            <a:pPr/>
            <a:r>
              <a:t>People worldwide need wheelchairs today</a:t>
            </a:r>
          </a:p>
        </p:txBody>
      </p:sp>
      <p:sp>
        <p:nvSpPr>
          <p:cNvPr id="42" name="Google Shape;44;p4"/>
          <p:cNvSpPr/>
          <p:nvPr/>
        </p:nvSpPr>
        <p:spPr>
          <a:xfrm>
            <a:off x="126925" y="2647350"/>
            <a:ext cx="2884200" cy="760201"/>
          </a:xfrm>
          <a:prstGeom prst="roundRect">
            <a:avLst>
              <a:gd name="adj" fmla="val 7929"/>
            </a:avLst>
          </a:prstGeom>
          <a:solidFill>
            <a:srgbClr val="FDF6F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3" name="Google Shape;45;p4"/>
          <p:cNvSpPr txBox="1"/>
          <p:nvPr/>
        </p:nvSpPr>
        <p:spPr>
          <a:xfrm>
            <a:off x="253864" y="2732063"/>
            <a:ext cx="26829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30000"/>
              </a:lnSpc>
              <a:defRPr sz="900">
                <a:solidFill>
                  <a:srgbClr val="3A3A3A"/>
                </a:solidFill>
              </a:defRPr>
            </a:lvl1pPr>
          </a:lstStyle>
          <a:p>
            <a:pPr/>
            <a:r>
              <a:t>Traditional wheelchairs create total dependency</a:t>
            </a:r>
          </a:p>
        </p:txBody>
      </p:sp>
      <p:sp>
        <p:nvSpPr>
          <p:cNvPr id="44" name="Google Shape;46;p4"/>
          <p:cNvSpPr txBox="1"/>
          <p:nvPr/>
        </p:nvSpPr>
        <p:spPr>
          <a:xfrm>
            <a:off x="253864" y="2931343"/>
            <a:ext cx="26829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30000"/>
              </a:lnSpc>
              <a:defRPr sz="900">
                <a:solidFill>
                  <a:srgbClr val="3A3A3A"/>
                </a:solidFill>
              </a:defRPr>
            </a:lvl1pPr>
          </a:lstStyle>
          <a:p>
            <a:pPr/>
            <a:r>
              <a:t>Health issues go undetected until emergencies</a:t>
            </a:r>
          </a:p>
        </p:txBody>
      </p:sp>
      <p:sp>
        <p:nvSpPr>
          <p:cNvPr id="45" name="Google Shape;47;p4"/>
          <p:cNvSpPr txBox="1"/>
          <p:nvPr/>
        </p:nvSpPr>
        <p:spPr>
          <a:xfrm>
            <a:off x="253864" y="3130624"/>
            <a:ext cx="26829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30000"/>
              </a:lnSpc>
              <a:defRPr sz="900">
                <a:solidFill>
                  <a:srgbClr val="3A3A3A"/>
                </a:solidFill>
              </a:defRPr>
            </a:lvl1pPr>
          </a:lstStyle>
          <a:p>
            <a:pPr/>
            <a:r>
              <a:t>150,000 caregiver shortage in US by 2030</a:t>
            </a:r>
          </a:p>
        </p:txBody>
      </p:sp>
      <p:sp>
        <p:nvSpPr>
          <p:cNvPr id="46" name="Google Shape;48;p4"/>
          <p:cNvSpPr/>
          <p:nvPr/>
        </p:nvSpPr>
        <p:spPr>
          <a:xfrm>
            <a:off x="3253838" y="647700"/>
            <a:ext cx="5722501" cy="324000"/>
          </a:xfrm>
          <a:prstGeom prst="roundRect">
            <a:avLst>
              <a:gd name="adj" fmla="val 19608"/>
            </a:avLst>
          </a:prstGeom>
          <a:solidFill>
            <a:srgbClr val="87A96B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7" name="Google Shape;49;p4"/>
          <p:cNvSpPr txBox="1"/>
          <p:nvPr/>
        </p:nvSpPr>
        <p:spPr>
          <a:xfrm>
            <a:off x="5015381" y="723900"/>
            <a:ext cx="23637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OUR SOLUTION</a:t>
            </a:r>
          </a:p>
        </p:txBody>
      </p:sp>
      <p:sp>
        <p:nvSpPr>
          <p:cNvPr id="48" name="Google Shape;50;p4"/>
          <p:cNvSpPr/>
          <p:nvPr/>
        </p:nvSpPr>
        <p:spPr>
          <a:xfrm>
            <a:off x="3285962" y="1089152"/>
            <a:ext cx="2367002" cy="435001"/>
          </a:xfrm>
          <a:prstGeom prst="roundRect">
            <a:avLst>
              <a:gd name="adj" fmla="val 14602"/>
            </a:avLst>
          </a:prstGeom>
          <a:solidFill>
            <a:srgbClr val="F0F5ED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9" name="Google Shape;51;p4"/>
          <p:cNvSpPr/>
          <p:nvPr/>
        </p:nvSpPr>
        <p:spPr>
          <a:xfrm>
            <a:off x="3309766" y="1089152"/>
            <a:ext cx="1" cy="435001"/>
          </a:xfrm>
          <a:prstGeom prst="line">
            <a:avLst/>
          </a:prstGeom>
          <a:ln w="47625">
            <a:solidFill>
              <a:srgbClr val="87A96B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50" name="Google Shape;52;p4"/>
          <p:cNvSpPr txBox="1"/>
          <p:nvPr/>
        </p:nvSpPr>
        <p:spPr>
          <a:xfrm>
            <a:off x="3460529" y="1165352"/>
            <a:ext cx="2367001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87A96B"/>
                </a:solidFill>
              </a:defRPr>
            </a:lvl1pPr>
          </a:lstStyle>
          <a:p>
            <a:pPr/>
            <a:r>
              <a:t>VitalRide</a:t>
            </a:r>
          </a:p>
        </p:txBody>
      </p:sp>
      <p:sp>
        <p:nvSpPr>
          <p:cNvPr id="51" name="Google Shape;53;p4"/>
          <p:cNvSpPr txBox="1"/>
          <p:nvPr/>
        </p:nvSpPr>
        <p:spPr>
          <a:xfrm>
            <a:off x="3460529" y="1333528"/>
            <a:ext cx="23670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5A5A5A"/>
                </a:solidFill>
              </a:defRPr>
            </a:lvl1pPr>
          </a:lstStyle>
          <a:p>
            <a:pPr/>
            <a:r>
              <a:t>Smart wheelchairs for consumers and facilities</a:t>
            </a:r>
          </a:p>
        </p:txBody>
      </p:sp>
      <p:sp>
        <p:nvSpPr>
          <p:cNvPr id="52" name="Google Shape;54;p4"/>
          <p:cNvSpPr/>
          <p:nvPr/>
        </p:nvSpPr>
        <p:spPr>
          <a:xfrm>
            <a:off x="3285962" y="1612878"/>
            <a:ext cx="2367002" cy="435001"/>
          </a:xfrm>
          <a:prstGeom prst="roundRect">
            <a:avLst>
              <a:gd name="adj" fmla="val 14602"/>
            </a:avLst>
          </a:prstGeom>
          <a:solidFill>
            <a:srgbClr val="F0F5ED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3" name="Google Shape;55;p4"/>
          <p:cNvSpPr/>
          <p:nvPr/>
        </p:nvSpPr>
        <p:spPr>
          <a:xfrm>
            <a:off x="3309766" y="1612878"/>
            <a:ext cx="1" cy="435001"/>
          </a:xfrm>
          <a:prstGeom prst="line">
            <a:avLst/>
          </a:prstGeom>
          <a:ln w="47625">
            <a:solidFill>
              <a:srgbClr val="87A96B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54" name="Google Shape;56;p4"/>
          <p:cNvSpPr txBox="1"/>
          <p:nvPr/>
        </p:nvSpPr>
        <p:spPr>
          <a:xfrm>
            <a:off x="3460529" y="1689078"/>
            <a:ext cx="2367001" cy="1355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87A96B"/>
                </a:solidFill>
              </a:defRPr>
            </a:lvl1pPr>
          </a:lstStyle>
          <a:p>
            <a:pPr/>
            <a:r>
              <a:t>Autonomous Navigation</a:t>
            </a:r>
          </a:p>
        </p:txBody>
      </p:sp>
      <p:sp>
        <p:nvSpPr>
          <p:cNvPr id="55" name="Google Shape;57;p4"/>
          <p:cNvSpPr txBox="1"/>
          <p:nvPr/>
        </p:nvSpPr>
        <p:spPr>
          <a:xfrm>
            <a:off x="3460529" y="1857253"/>
            <a:ext cx="23670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5A5A5A"/>
                </a:solidFill>
              </a:defRPr>
            </a:lvl1pPr>
          </a:lstStyle>
          <a:p>
            <a:pPr/>
            <a:r>
              <a:t>LiDAR + AI for point-to-point travel</a:t>
            </a:r>
          </a:p>
        </p:txBody>
      </p:sp>
      <p:sp>
        <p:nvSpPr>
          <p:cNvPr id="56" name="Google Shape;58;p4"/>
          <p:cNvSpPr/>
          <p:nvPr/>
        </p:nvSpPr>
        <p:spPr>
          <a:xfrm>
            <a:off x="3285962" y="2136603"/>
            <a:ext cx="2367002" cy="435001"/>
          </a:xfrm>
          <a:prstGeom prst="roundRect">
            <a:avLst>
              <a:gd name="adj" fmla="val 14602"/>
            </a:avLst>
          </a:prstGeom>
          <a:solidFill>
            <a:srgbClr val="F0F5ED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7" name="Google Shape;59;p4"/>
          <p:cNvSpPr/>
          <p:nvPr/>
        </p:nvSpPr>
        <p:spPr>
          <a:xfrm>
            <a:off x="3309766" y="2136605"/>
            <a:ext cx="1" cy="435001"/>
          </a:xfrm>
          <a:prstGeom prst="line">
            <a:avLst/>
          </a:prstGeom>
          <a:ln w="47625">
            <a:solidFill>
              <a:srgbClr val="87A96B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58" name="Google Shape;60;p4"/>
          <p:cNvSpPr txBox="1"/>
          <p:nvPr/>
        </p:nvSpPr>
        <p:spPr>
          <a:xfrm>
            <a:off x="3460529" y="2212805"/>
            <a:ext cx="2367001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87A96B"/>
                </a:solidFill>
              </a:defRPr>
            </a:lvl1pPr>
          </a:lstStyle>
          <a:p>
            <a:pPr/>
            <a:r>
              <a:t>Health Monitoring</a:t>
            </a:r>
          </a:p>
        </p:txBody>
      </p:sp>
      <p:sp>
        <p:nvSpPr>
          <p:cNvPr id="59" name="Google Shape;61;p4"/>
          <p:cNvSpPr txBox="1"/>
          <p:nvPr/>
        </p:nvSpPr>
        <p:spPr>
          <a:xfrm>
            <a:off x="3460529" y="2380980"/>
            <a:ext cx="23670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5A5A5A"/>
                </a:solidFill>
              </a:defRPr>
            </a:lvl1pPr>
          </a:lstStyle>
          <a:p>
            <a:pPr/>
            <a:r>
              <a:t>Heart rate, respiratory, fall detection 24/7</a:t>
            </a:r>
          </a:p>
        </p:txBody>
      </p:sp>
      <p:sp>
        <p:nvSpPr>
          <p:cNvPr id="60" name="Google Shape;62;p4"/>
          <p:cNvSpPr/>
          <p:nvPr/>
        </p:nvSpPr>
        <p:spPr>
          <a:xfrm>
            <a:off x="3285962" y="2660328"/>
            <a:ext cx="2367002" cy="435001"/>
          </a:xfrm>
          <a:prstGeom prst="roundRect">
            <a:avLst>
              <a:gd name="adj" fmla="val 14602"/>
            </a:avLst>
          </a:prstGeom>
          <a:solidFill>
            <a:srgbClr val="F0F5ED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1" name="Google Shape;63;p4"/>
          <p:cNvSpPr/>
          <p:nvPr/>
        </p:nvSpPr>
        <p:spPr>
          <a:xfrm>
            <a:off x="3309766" y="2660330"/>
            <a:ext cx="1" cy="435001"/>
          </a:xfrm>
          <a:prstGeom prst="line">
            <a:avLst/>
          </a:prstGeom>
          <a:ln w="47625">
            <a:solidFill>
              <a:srgbClr val="87A96B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62" name="Google Shape;64;p4"/>
          <p:cNvSpPr txBox="1"/>
          <p:nvPr/>
        </p:nvSpPr>
        <p:spPr>
          <a:xfrm>
            <a:off x="3460529" y="2736530"/>
            <a:ext cx="2367001" cy="1355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87A96B"/>
                </a:solidFill>
              </a:defRPr>
            </a:lvl1pPr>
          </a:lstStyle>
          <a:p>
            <a:pPr/>
            <a:r>
              <a:t>Instant Safety Alerts</a:t>
            </a:r>
          </a:p>
        </p:txBody>
      </p:sp>
      <p:sp>
        <p:nvSpPr>
          <p:cNvPr id="63" name="Google Shape;65;p4"/>
          <p:cNvSpPr txBox="1"/>
          <p:nvPr/>
        </p:nvSpPr>
        <p:spPr>
          <a:xfrm>
            <a:off x="3460529" y="2904707"/>
            <a:ext cx="23670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5A5A5A"/>
                </a:solidFill>
              </a:defRPr>
            </a:lvl1pPr>
          </a:lstStyle>
          <a:p>
            <a:pPr/>
            <a:r>
              <a:t>Geofencing, emergency SOS, caregiver alerts</a:t>
            </a:r>
          </a:p>
        </p:txBody>
      </p:sp>
      <p:sp>
        <p:nvSpPr>
          <p:cNvPr id="64" name="Google Shape;66;p4"/>
          <p:cNvSpPr/>
          <p:nvPr/>
        </p:nvSpPr>
        <p:spPr>
          <a:xfrm>
            <a:off x="3285962" y="3184052"/>
            <a:ext cx="2367002" cy="435001"/>
          </a:xfrm>
          <a:prstGeom prst="roundRect">
            <a:avLst>
              <a:gd name="adj" fmla="val 14602"/>
            </a:avLst>
          </a:prstGeom>
          <a:solidFill>
            <a:srgbClr val="F0F5ED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5" name="Google Shape;67;p4"/>
          <p:cNvSpPr/>
          <p:nvPr/>
        </p:nvSpPr>
        <p:spPr>
          <a:xfrm>
            <a:off x="3309766" y="3184057"/>
            <a:ext cx="1" cy="435001"/>
          </a:xfrm>
          <a:prstGeom prst="line">
            <a:avLst/>
          </a:prstGeom>
          <a:ln w="47625">
            <a:solidFill>
              <a:srgbClr val="87A96B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66" name="Google Shape;68;p4"/>
          <p:cNvSpPr txBox="1"/>
          <p:nvPr/>
        </p:nvSpPr>
        <p:spPr>
          <a:xfrm>
            <a:off x="3460529" y="3260257"/>
            <a:ext cx="2367001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87A96B"/>
                </a:solidFill>
              </a:defRPr>
            </a:lvl1pPr>
          </a:lstStyle>
          <a:p>
            <a:pPr/>
            <a:r>
              <a:t>Family Dashboard</a:t>
            </a:r>
          </a:p>
        </p:txBody>
      </p:sp>
      <p:sp>
        <p:nvSpPr>
          <p:cNvPr id="67" name="Google Shape;69;p4"/>
          <p:cNvSpPr txBox="1"/>
          <p:nvPr/>
        </p:nvSpPr>
        <p:spPr>
          <a:xfrm>
            <a:off x="3460529" y="3428432"/>
            <a:ext cx="23670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5A5A5A"/>
                </a:solidFill>
              </a:defRPr>
            </a:lvl1pPr>
          </a:lstStyle>
          <a:p>
            <a:pPr/>
            <a:r>
              <a:t>Real-time monitoring and telehealth</a:t>
            </a:r>
          </a:p>
        </p:txBody>
      </p:sp>
      <p:pic>
        <p:nvPicPr>
          <p:cNvPr id="68" name="Google Shape;72;p4" descr="Google Shape;72;p4"/>
          <p:cNvPicPr>
            <a:picLocks noChangeAspect="1"/>
          </p:cNvPicPr>
          <p:nvPr/>
        </p:nvPicPr>
        <p:blipFill>
          <a:blip r:embed="rId2">
            <a:extLst/>
          </a:blip>
          <a:srcRect l="18956" t="0" r="19352" b="6742"/>
          <a:stretch>
            <a:fillRect/>
          </a:stretch>
        </p:blipFill>
        <p:spPr>
          <a:xfrm>
            <a:off x="5827464" y="1073126"/>
            <a:ext cx="3087727" cy="2545927"/>
          </a:xfrm>
          <a:prstGeom prst="rect">
            <a:avLst/>
          </a:prstGeom>
          <a:ln w="12700">
            <a:miter lim="400000"/>
          </a:ln>
        </p:spPr>
      </p:pic>
      <p:sp>
        <p:nvSpPr>
          <p:cNvPr id="69" name="Google Shape;73;p4"/>
          <p:cNvSpPr txBox="1"/>
          <p:nvPr/>
        </p:nvSpPr>
        <p:spPr>
          <a:xfrm>
            <a:off x="209472" y="2173405"/>
            <a:ext cx="2682901" cy="3294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ct val="140000"/>
              </a:lnSpc>
              <a:defRPr i="1" sz="1000">
                <a:solidFill>
                  <a:srgbClr val="E07A5F"/>
                </a:solidFill>
              </a:defRPr>
            </a:pPr>
            <a:r>
              <a:t>More seniors. Fewer caregivers. </a:t>
            </a:r>
          </a:p>
          <a:p>
            <a:pPr algn="ctr">
              <a:lnSpc>
                <a:spcPct val="140000"/>
              </a:lnSpc>
              <a:defRPr i="1" sz="1000">
                <a:solidFill>
                  <a:srgbClr val="E07A5F"/>
                </a:solidFill>
              </a:defRPr>
            </a:pPr>
            <a:r>
              <a:t>The care gap is widening every year.</a:t>
            </a:r>
          </a:p>
        </p:txBody>
      </p:sp>
      <p:sp>
        <p:nvSpPr>
          <p:cNvPr id="70" name="Google Shape;74;p4"/>
          <p:cNvSpPr/>
          <p:nvPr/>
        </p:nvSpPr>
        <p:spPr>
          <a:xfrm>
            <a:off x="126950" y="3525997"/>
            <a:ext cx="2884201" cy="761101"/>
          </a:xfrm>
          <a:prstGeom prst="roundRect">
            <a:avLst>
              <a:gd name="adj" fmla="val 8293"/>
            </a:avLst>
          </a:prstGeom>
          <a:solidFill>
            <a:srgbClr val="D4A574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22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1" name="Google Shape;75;p4"/>
          <p:cNvSpPr txBox="1"/>
          <p:nvPr/>
        </p:nvSpPr>
        <p:spPr>
          <a:xfrm>
            <a:off x="226722" y="3620658"/>
            <a:ext cx="268470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900">
                <a:solidFill>
                  <a:srgbClr val="FFFFFF"/>
                </a:solidFill>
              </a:defRPr>
            </a:lvl1pPr>
          </a:lstStyle>
          <a:p>
            <a:pPr/>
            <a:r>
              <a:t>MARKET OPPORTUNITY</a:t>
            </a:r>
          </a:p>
        </p:txBody>
      </p:sp>
      <p:sp>
        <p:nvSpPr>
          <p:cNvPr id="72" name="Google Shape;76;p4"/>
          <p:cNvSpPr txBox="1"/>
          <p:nvPr/>
        </p:nvSpPr>
        <p:spPr>
          <a:xfrm>
            <a:off x="226722" y="3794080"/>
            <a:ext cx="2684702" cy="221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600">
                <a:solidFill>
                  <a:srgbClr val="FFFFFF"/>
                </a:solidFill>
              </a:defRPr>
            </a:lvl1pPr>
          </a:lstStyle>
          <a:p>
            <a:pPr/>
            <a:r>
              <a:t>$2.8B</a:t>
            </a:r>
          </a:p>
        </p:txBody>
      </p:sp>
      <p:sp>
        <p:nvSpPr>
          <p:cNvPr id="73" name="Google Shape;77;p4"/>
          <p:cNvSpPr txBox="1"/>
          <p:nvPr/>
        </p:nvSpPr>
        <p:spPr>
          <a:xfrm>
            <a:off x="226722" y="4073999"/>
            <a:ext cx="268470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800">
                <a:solidFill>
                  <a:srgbClr val="F0F5ED"/>
                </a:solidFill>
              </a:defRPr>
            </a:lvl1pPr>
          </a:lstStyle>
          <a:p>
            <a:pPr/>
            <a:r>
              <a:t>Smart Chair Market by 2034</a:t>
            </a:r>
          </a:p>
        </p:txBody>
      </p:sp>
      <p:sp>
        <p:nvSpPr>
          <p:cNvPr id="74" name="Google Shape;78;p4"/>
          <p:cNvSpPr/>
          <p:nvPr/>
        </p:nvSpPr>
        <p:spPr>
          <a:xfrm>
            <a:off x="3279462" y="3717301"/>
            <a:ext cx="2884201" cy="1278901"/>
          </a:xfrm>
          <a:prstGeom prst="roundRect">
            <a:avLst>
              <a:gd name="adj" fmla="val 3976"/>
            </a:avLst>
          </a:prstGeom>
          <a:solidFill>
            <a:srgbClr val="F0F5ED"/>
          </a:solidFill>
          <a:ln w="19050">
            <a:solidFill>
              <a:srgbClr val="87A96B"/>
            </a:solidFill>
          </a:ln>
        </p:spPr>
        <p:txBody>
          <a:bodyPr lIns="0" tIns="0" rIns="0" bIns="0" anchor="ctr"/>
          <a:lstStyle/>
          <a:p>
            <a:pPr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5" name="Google Shape;79;p4"/>
          <p:cNvSpPr/>
          <p:nvPr/>
        </p:nvSpPr>
        <p:spPr>
          <a:xfrm>
            <a:off x="3425474" y="3837865"/>
            <a:ext cx="431701" cy="209701"/>
          </a:xfrm>
          <a:prstGeom prst="roundRect">
            <a:avLst>
              <a:gd name="adj" fmla="val 50000"/>
            </a:avLst>
          </a:prstGeom>
          <a:solidFill>
            <a:srgbClr val="87A96B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6" name="Google Shape;80;p4"/>
          <p:cNvSpPr txBox="1"/>
          <p:nvPr/>
        </p:nvSpPr>
        <p:spPr>
          <a:xfrm>
            <a:off x="3526975" y="3875965"/>
            <a:ext cx="233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B2B</a:t>
            </a:r>
          </a:p>
        </p:txBody>
      </p:sp>
      <p:sp>
        <p:nvSpPr>
          <p:cNvPr id="77" name="Google Shape;81;p4"/>
          <p:cNvSpPr txBox="1"/>
          <p:nvPr/>
        </p:nvSpPr>
        <p:spPr>
          <a:xfrm>
            <a:off x="3958725" y="3866440"/>
            <a:ext cx="1377601" cy="1478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2C2C2C"/>
                </a:solidFill>
              </a:defRPr>
            </a:lvl1pPr>
          </a:lstStyle>
          <a:p>
            <a:pPr/>
            <a:r>
              <a:t>Healthcare Facilities</a:t>
            </a:r>
          </a:p>
        </p:txBody>
      </p:sp>
      <p:sp>
        <p:nvSpPr>
          <p:cNvPr id="78" name="Google Shape;82;p4"/>
          <p:cNvSpPr txBox="1"/>
          <p:nvPr/>
        </p:nvSpPr>
        <p:spPr>
          <a:xfrm>
            <a:off x="3425474" y="4110816"/>
            <a:ext cx="3123001" cy="2585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30000"/>
              </a:lnSpc>
              <a:defRPr sz="800">
                <a:solidFill>
                  <a:srgbClr val="5A5A5A"/>
                </a:solidFill>
              </a:defRPr>
            </a:pPr>
            <a:r>
              <a:t>Nursing homes, rehab centers, VA hospitals,</a:t>
            </a:r>
          </a:p>
          <a:p>
            <a:pPr>
              <a:lnSpc>
                <a:spcPct val="130000"/>
              </a:lnSpc>
              <a:defRPr sz="800">
                <a:solidFill>
                  <a:srgbClr val="5A5A5A"/>
                </a:solidFill>
              </a:defRPr>
            </a:pPr>
            <a:r>
              <a:t>academic medical centers, airports</a:t>
            </a:r>
          </a:p>
        </p:txBody>
      </p:sp>
      <p:sp>
        <p:nvSpPr>
          <p:cNvPr id="79" name="Google Shape;83;p4"/>
          <p:cNvSpPr txBox="1"/>
          <p:nvPr/>
        </p:nvSpPr>
        <p:spPr>
          <a:xfrm>
            <a:off x="3425474" y="4425588"/>
            <a:ext cx="3123001" cy="2502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900">
                <a:solidFill>
                  <a:srgbClr val="2C2C2C"/>
                </a:solidFill>
              </a:defRPr>
            </a:pPr>
            <a:r>
              <a:rPr b="0"/>
              <a:t>Vital monitoring, fleet management</a:t>
            </a:r>
          </a:p>
          <a:p>
            <a:pPr>
              <a:defRPr sz="900">
                <a:solidFill>
                  <a:srgbClr val="2C2C2C"/>
                </a:solidFill>
              </a:defRPr>
            </a:pPr>
            <a:r>
              <a:t>EHR integration</a:t>
            </a:r>
          </a:p>
        </p:txBody>
      </p:sp>
      <p:sp>
        <p:nvSpPr>
          <p:cNvPr id="80" name="Google Shape;84;p4"/>
          <p:cNvSpPr txBox="1"/>
          <p:nvPr/>
        </p:nvSpPr>
        <p:spPr>
          <a:xfrm>
            <a:off x="3425474" y="4730388"/>
            <a:ext cx="31230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5A5A5A"/>
                </a:solidFill>
              </a:defRPr>
            </a:lvl1pPr>
          </a:lstStyle>
          <a:p>
            <a:pPr/>
            <a:r>
              <a:t>Hardware: $4,500-8,000/unit | CareCloud: $99-299/month</a:t>
            </a:r>
          </a:p>
        </p:txBody>
      </p:sp>
      <p:sp>
        <p:nvSpPr>
          <p:cNvPr id="81" name="Google Shape;85;p4"/>
          <p:cNvSpPr/>
          <p:nvPr/>
        </p:nvSpPr>
        <p:spPr>
          <a:xfrm>
            <a:off x="6237549" y="3717301"/>
            <a:ext cx="2764501" cy="1278901"/>
          </a:xfrm>
          <a:prstGeom prst="roundRect">
            <a:avLst>
              <a:gd name="adj" fmla="val 3976"/>
            </a:avLst>
          </a:prstGeom>
          <a:solidFill>
            <a:srgbClr val="D9EAD3"/>
          </a:solidFill>
          <a:ln w="19050">
            <a:solidFill>
              <a:schemeClr val="accent6"/>
            </a:solidFill>
          </a:ln>
        </p:spPr>
        <p:txBody>
          <a:bodyPr lIns="0" tIns="0" rIns="0" bIns="0" anchor="ctr"/>
          <a:lstStyle/>
          <a:p>
            <a:pPr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2" name="Google Shape;86;p4"/>
          <p:cNvSpPr/>
          <p:nvPr/>
        </p:nvSpPr>
        <p:spPr>
          <a:xfrm>
            <a:off x="6383550" y="3837852"/>
            <a:ext cx="431701" cy="209701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3" name="Google Shape;87;p4"/>
          <p:cNvSpPr txBox="1"/>
          <p:nvPr/>
        </p:nvSpPr>
        <p:spPr>
          <a:xfrm>
            <a:off x="6485051" y="3875952"/>
            <a:ext cx="233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B2C</a:t>
            </a:r>
          </a:p>
        </p:txBody>
      </p:sp>
      <p:sp>
        <p:nvSpPr>
          <p:cNvPr id="84" name="Google Shape;88;p4"/>
          <p:cNvSpPr txBox="1"/>
          <p:nvPr/>
        </p:nvSpPr>
        <p:spPr>
          <a:xfrm>
            <a:off x="6916801" y="3866427"/>
            <a:ext cx="1147501" cy="1478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2C2C2C"/>
                </a:solidFill>
              </a:defRPr>
            </a:lvl1pPr>
          </a:lstStyle>
          <a:p>
            <a:pPr/>
            <a:r>
              <a:t>Direct Consumer</a:t>
            </a:r>
          </a:p>
        </p:txBody>
      </p:sp>
      <p:sp>
        <p:nvSpPr>
          <p:cNvPr id="85" name="Google Shape;89;p4"/>
          <p:cNvSpPr txBox="1"/>
          <p:nvPr/>
        </p:nvSpPr>
        <p:spPr>
          <a:xfrm>
            <a:off x="6383550" y="4110802"/>
            <a:ext cx="3123001" cy="2585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30000"/>
              </a:lnSpc>
              <a:defRPr sz="800">
                <a:solidFill>
                  <a:srgbClr val="5A5A5A"/>
                </a:solidFill>
              </a:defRPr>
            </a:pPr>
            <a:r>
              <a:t>Seniors aging at home, family caregivers, </a:t>
            </a:r>
          </a:p>
          <a:p>
            <a:pPr>
              <a:lnSpc>
                <a:spcPct val="130000"/>
              </a:lnSpc>
              <a:defRPr sz="800">
                <a:solidFill>
                  <a:srgbClr val="5A5A5A"/>
                </a:solidFill>
              </a:defRPr>
            </a:pPr>
            <a:r>
              <a:t>disability community</a:t>
            </a:r>
          </a:p>
        </p:txBody>
      </p:sp>
      <p:sp>
        <p:nvSpPr>
          <p:cNvPr id="86" name="Google Shape;90;p4"/>
          <p:cNvSpPr txBox="1"/>
          <p:nvPr/>
        </p:nvSpPr>
        <p:spPr>
          <a:xfrm>
            <a:off x="6383550" y="4445963"/>
            <a:ext cx="3123001" cy="2502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900">
                <a:solidFill>
                  <a:srgbClr val="2C2C2C"/>
                </a:solidFill>
              </a:defRPr>
            </a:pPr>
            <a:r>
              <a:rPr b="0"/>
              <a:t>Full autonomous navigation, </a:t>
            </a:r>
          </a:p>
          <a:p>
            <a:pPr>
              <a:defRPr sz="900">
                <a:solidFill>
                  <a:srgbClr val="2C2C2C"/>
                </a:solidFill>
              </a:defRPr>
            </a:pPr>
            <a:r>
              <a:t>health suite, family dashboard</a:t>
            </a:r>
          </a:p>
        </p:txBody>
      </p:sp>
      <p:sp>
        <p:nvSpPr>
          <p:cNvPr id="87" name="Google Shape;91;p4"/>
          <p:cNvSpPr txBox="1"/>
          <p:nvPr/>
        </p:nvSpPr>
        <p:spPr>
          <a:xfrm>
            <a:off x="6383550" y="4750763"/>
            <a:ext cx="31230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5A5A5A"/>
                </a:solidFill>
              </a:defRPr>
            </a:lvl1pPr>
          </a:lstStyle>
          <a:p>
            <a:pPr/>
            <a:r>
              <a:t>Hardware: $5,500-9,500 | CareConnect: $29-79/month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97;p5"/>
          <p:cNvSpPr/>
          <p:nvPr/>
        </p:nvSpPr>
        <p:spPr>
          <a:xfrm>
            <a:off x="0" y="-1"/>
            <a:ext cx="9144000" cy="511078"/>
          </a:xfrm>
          <a:prstGeom prst="rect">
            <a:avLst/>
          </a:prstGeom>
          <a:solidFill>
            <a:srgbClr val="E07A5F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0" name="Google Shape;98;p5"/>
          <p:cNvSpPr txBox="1"/>
          <p:nvPr/>
        </p:nvSpPr>
        <p:spPr>
          <a:xfrm>
            <a:off x="380999" y="126950"/>
            <a:ext cx="8549642" cy="2469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FFFFFF"/>
                </a:solidFill>
              </a:defRPr>
            </a:lvl1pPr>
          </a:lstStyle>
          <a:p>
            <a:pPr/>
            <a:r>
              <a:t>Growth Strategy</a:t>
            </a:r>
          </a:p>
        </p:txBody>
      </p:sp>
      <p:sp>
        <p:nvSpPr>
          <p:cNvPr id="91" name="Google Shape;99;p5"/>
          <p:cNvSpPr/>
          <p:nvPr/>
        </p:nvSpPr>
        <p:spPr>
          <a:xfrm>
            <a:off x="549775" y="1190924"/>
            <a:ext cx="2772301" cy="289801"/>
          </a:xfrm>
          <a:prstGeom prst="roundRect">
            <a:avLst>
              <a:gd name="adj" fmla="val 18837"/>
            </a:avLst>
          </a:prstGeom>
          <a:solidFill>
            <a:srgbClr val="2C2C2C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19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2" name="Google Shape;100;p5"/>
          <p:cNvSpPr txBox="1"/>
          <p:nvPr/>
        </p:nvSpPr>
        <p:spPr>
          <a:xfrm>
            <a:off x="633307" y="1259055"/>
            <a:ext cx="2605202" cy="1355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GO-TO-MARKET</a:t>
            </a:r>
          </a:p>
        </p:txBody>
      </p:sp>
      <p:sp>
        <p:nvSpPr>
          <p:cNvPr id="93" name="Google Shape;101;p5"/>
          <p:cNvSpPr/>
          <p:nvPr/>
        </p:nvSpPr>
        <p:spPr>
          <a:xfrm>
            <a:off x="549775" y="1548856"/>
            <a:ext cx="2772301" cy="695701"/>
          </a:xfrm>
          <a:prstGeom prst="roundRect">
            <a:avLst>
              <a:gd name="adj" fmla="val 7849"/>
            </a:avLst>
          </a:prstGeom>
          <a:solidFill>
            <a:srgbClr val="F8F8F8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19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4" name="Google Shape;102;p5"/>
          <p:cNvSpPr/>
          <p:nvPr/>
        </p:nvSpPr>
        <p:spPr>
          <a:xfrm flipH="1">
            <a:off x="570247" y="1548856"/>
            <a:ext cx="1" cy="695701"/>
          </a:xfrm>
          <a:prstGeom prst="line">
            <a:avLst/>
          </a:prstGeom>
          <a:ln w="40950">
            <a:solidFill>
              <a:srgbClr val="D4A574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95" name="Google Shape;103;p5"/>
          <p:cNvSpPr txBox="1"/>
          <p:nvPr/>
        </p:nvSpPr>
        <p:spPr>
          <a:xfrm>
            <a:off x="699791" y="1616985"/>
            <a:ext cx="256350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D4A574"/>
                </a:solidFill>
              </a:defRPr>
            </a:lvl1pPr>
          </a:lstStyle>
          <a:p>
            <a:pPr/>
            <a:r>
              <a:t>PHASE 1: VALIDATE (M1-12)</a:t>
            </a:r>
          </a:p>
        </p:txBody>
      </p:sp>
      <p:sp>
        <p:nvSpPr>
          <p:cNvPr id="96" name="Google Shape;104;p5"/>
          <p:cNvSpPr txBox="1"/>
          <p:nvPr/>
        </p:nvSpPr>
        <p:spPr>
          <a:xfrm>
            <a:off x="699791" y="1767003"/>
            <a:ext cx="2563502" cy="253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5000"/>
              </a:lnSpc>
              <a:defRPr sz="800">
                <a:solidFill>
                  <a:srgbClr val="3A3A3A"/>
                </a:solidFill>
              </a:defRPr>
            </a:lvl1pPr>
          </a:lstStyle>
          <a:p>
            <a:pPr/>
            <a:r>
              <a:t>Pilot programs with 3-5 nursing homes and VA hospitals. Build clinical evidence and reference customers.</a:t>
            </a:r>
          </a:p>
        </p:txBody>
      </p:sp>
      <p:sp>
        <p:nvSpPr>
          <p:cNvPr id="97" name="Google Shape;105;p5"/>
          <p:cNvSpPr/>
          <p:nvPr/>
        </p:nvSpPr>
        <p:spPr>
          <a:xfrm>
            <a:off x="549775" y="2312536"/>
            <a:ext cx="2772301" cy="558901"/>
          </a:xfrm>
          <a:prstGeom prst="roundRect">
            <a:avLst>
              <a:gd name="adj" fmla="val 9764"/>
            </a:avLst>
          </a:prstGeom>
          <a:solidFill>
            <a:srgbClr val="F8F8F8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19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8" name="Google Shape;106;p5"/>
          <p:cNvSpPr/>
          <p:nvPr/>
        </p:nvSpPr>
        <p:spPr>
          <a:xfrm flipH="1">
            <a:off x="570247" y="2312536"/>
            <a:ext cx="1" cy="558901"/>
          </a:xfrm>
          <a:prstGeom prst="line">
            <a:avLst/>
          </a:prstGeom>
          <a:ln w="40950">
            <a:solidFill>
              <a:srgbClr val="D4A574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99" name="Google Shape;107;p5"/>
          <p:cNvSpPr txBox="1"/>
          <p:nvPr/>
        </p:nvSpPr>
        <p:spPr>
          <a:xfrm>
            <a:off x="699791" y="2380669"/>
            <a:ext cx="256350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D4A574"/>
                </a:solidFill>
              </a:defRPr>
            </a:lvl1pPr>
          </a:lstStyle>
          <a:p>
            <a:pPr/>
            <a:r>
              <a:t>PHASE 2: LAUNCH (M9-18)</a:t>
            </a:r>
          </a:p>
        </p:txBody>
      </p:sp>
      <p:sp>
        <p:nvSpPr>
          <p:cNvPr id="100" name="Google Shape;108;p5"/>
          <p:cNvSpPr txBox="1"/>
          <p:nvPr/>
        </p:nvSpPr>
        <p:spPr>
          <a:xfrm>
            <a:off x="699791" y="2530685"/>
            <a:ext cx="2563502" cy="2530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5000"/>
              </a:lnSpc>
              <a:defRPr sz="800">
                <a:solidFill>
                  <a:srgbClr val="3A3A3A"/>
                </a:solidFill>
              </a:defRPr>
            </a:lvl1pPr>
          </a:lstStyle>
          <a:p>
            <a:pPr/>
            <a:r>
              <a:t>Consumer launch via DME dealers, e-commerce, healthcare provider referrals.</a:t>
            </a:r>
          </a:p>
        </p:txBody>
      </p:sp>
      <p:sp>
        <p:nvSpPr>
          <p:cNvPr id="101" name="Google Shape;109;p5"/>
          <p:cNvSpPr/>
          <p:nvPr/>
        </p:nvSpPr>
        <p:spPr>
          <a:xfrm>
            <a:off x="549775" y="2939794"/>
            <a:ext cx="2772301" cy="558901"/>
          </a:xfrm>
          <a:prstGeom prst="roundRect">
            <a:avLst>
              <a:gd name="adj" fmla="val 9764"/>
            </a:avLst>
          </a:prstGeom>
          <a:solidFill>
            <a:srgbClr val="F8F8F8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19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2" name="Google Shape;110;p5"/>
          <p:cNvSpPr/>
          <p:nvPr/>
        </p:nvSpPr>
        <p:spPr>
          <a:xfrm flipH="1">
            <a:off x="570247" y="2939794"/>
            <a:ext cx="1" cy="558901"/>
          </a:xfrm>
          <a:prstGeom prst="line">
            <a:avLst/>
          </a:prstGeom>
          <a:ln w="40950">
            <a:solidFill>
              <a:srgbClr val="D4A574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03" name="Google Shape;111;p5"/>
          <p:cNvSpPr txBox="1"/>
          <p:nvPr/>
        </p:nvSpPr>
        <p:spPr>
          <a:xfrm>
            <a:off x="699791" y="3007927"/>
            <a:ext cx="256350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D4A574"/>
                </a:solidFill>
              </a:defRPr>
            </a:lvl1pPr>
          </a:lstStyle>
          <a:p>
            <a:pPr/>
            <a:r>
              <a:t>PHASE 3: SCALE (Y2-3)</a:t>
            </a:r>
          </a:p>
        </p:txBody>
      </p:sp>
      <p:sp>
        <p:nvSpPr>
          <p:cNvPr id="104" name="Google Shape;112;p5"/>
          <p:cNvSpPr txBox="1"/>
          <p:nvPr/>
        </p:nvSpPr>
        <p:spPr>
          <a:xfrm>
            <a:off x="699791" y="3157944"/>
            <a:ext cx="2563502" cy="2530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5000"/>
              </a:lnSpc>
              <a:defRPr sz="800">
                <a:solidFill>
                  <a:srgbClr val="3A3A3A"/>
                </a:solidFill>
              </a:defRPr>
            </a:lvl1pPr>
          </a:lstStyle>
          <a:p>
            <a:pPr/>
            <a:r>
              <a:t>Medicare reimbursement, insurance partnerships, international expansion (UK NHS, EU).</a:t>
            </a:r>
          </a:p>
        </p:txBody>
      </p:sp>
      <p:sp>
        <p:nvSpPr>
          <p:cNvPr id="105" name="Google Shape;113;p5"/>
          <p:cNvSpPr/>
          <p:nvPr/>
        </p:nvSpPr>
        <p:spPr>
          <a:xfrm>
            <a:off x="549775" y="3607996"/>
            <a:ext cx="2772301" cy="289801"/>
          </a:xfrm>
          <a:prstGeom prst="roundRect">
            <a:avLst>
              <a:gd name="adj" fmla="val 18837"/>
            </a:avLst>
          </a:prstGeom>
          <a:solidFill>
            <a:srgbClr val="2C2C2C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19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6" name="Google Shape;114;p5"/>
          <p:cNvSpPr txBox="1"/>
          <p:nvPr/>
        </p:nvSpPr>
        <p:spPr>
          <a:xfrm>
            <a:off x="633307" y="3676127"/>
            <a:ext cx="2605202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COMPETITIVE EDGE</a:t>
            </a:r>
          </a:p>
        </p:txBody>
      </p:sp>
      <p:sp>
        <p:nvSpPr>
          <p:cNvPr id="107" name="Google Shape;115;p5"/>
          <p:cNvSpPr/>
          <p:nvPr/>
        </p:nvSpPr>
        <p:spPr>
          <a:xfrm>
            <a:off x="549775" y="3965926"/>
            <a:ext cx="878702" cy="613801"/>
          </a:xfrm>
          <a:prstGeom prst="roundRect">
            <a:avLst>
              <a:gd name="adj" fmla="val 8894"/>
            </a:avLst>
          </a:prstGeom>
          <a:solidFill>
            <a:srgbClr val="F4F1DE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19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8" name="Google Shape;116;p5"/>
          <p:cNvSpPr txBox="1"/>
          <p:nvPr/>
        </p:nvSpPr>
        <p:spPr>
          <a:xfrm>
            <a:off x="624511" y="4034059"/>
            <a:ext cx="7293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800">
                <a:solidFill>
                  <a:srgbClr val="87A96B"/>
                </a:solidFill>
              </a:defRPr>
            </a:lvl1pPr>
          </a:lstStyle>
          <a:p>
            <a:pPr/>
            <a:r>
              <a:t>Full Autonomy</a:t>
            </a:r>
          </a:p>
        </p:txBody>
      </p:sp>
      <p:sp>
        <p:nvSpPr>
          <p:cNvPr id="109" name="Google Shape;117;p5"/>
          <p:cNvSpPr txBox="1"/>
          <p:nvPr/>
        </p:nvSpPr>
        <p:spPr>
          <a:xfrm>
            <a:off x="624511" y="4306904"/>
            <a:ext cx="7293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700">
                <a:solidFill>
                  <a:srgbClr val="5A5A5A"/>
                </a:solidFill>
              </a:defRPr>
            </a:lvl1pPr>
          </a:lstStyle>
          <a:p>
            <a:pPr/>
            <a:r>
              <a:t>True point-to-point</a:t>
            </a:r>
          </a:p>
        </p:txBody>
      </p:sp>
      <p:sp>
        <p:nvSpPr>
          <p:cNvPr id="110" name="Google Shape;118;p5"/>
          <p:cNvSpPr/>
          <p:nvPr/>
        </p:nvSpPr>
        <p:spPr>
          <a:xfrm>
            <a:off x="1496578" y="3965926"/>
            <a:ext cx="878701" cy="613801"/>
          </a:xfrm>
          <a:prstGeom prst="roundRect">
            <a:avLst>
              <a:gd name="adj" fmla="val 8894"/>
            </a:avLst>
          </a:prstGeom>
          <a:solidFill>
            <a:srgbClr val="F4F1DE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19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11" name="Google Shape;119;p5"/>
          <p:cNvSpPr txBox="1"/>
          <p:nvPr/>
        </p:nvSpPr>
        <p:spPr>
          <a:xfrm>
            <a:off x="1571313" y="4034059"/>
            <a:ext cx="729301" cy="2252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800">
                <a:solidFill>
                  <a:srgbClr val="87A96B"/>
                </a:solidFill>
              </a:defRPr>
            </a:lvl1pPr>
          </a:lstStyle>
          <a:p>
            <a:pPr/>
            <a:r>
              <a:t>Integrated Health</a:t>
            </a:r>
          </a:p>
        </p:txBody>
      </p:sp>
      <p:sp>
        <p:nvSpPr>
          <p:cNvPr id="112" name="Google Shape;120;p5"/>
          <p:cNvSpPr txBox="1"/>
          <p:nvPr/>
        </p:nvSpPr>
        <p:spPr>
          <a:xfrm>
            <a:off x="1571313" y="4306904"/>
            <a:ext cx="7293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700">
                <a:solidFill>
                  <a:srgbClr val="5A5A5A"/>
                </a:solidFill>
              </a:defRPr>
            </a:lvl1pPr>
          </a:lstStyle>
          <a:p>
            <a:pPr/>
            <a:r>
              <a:t>Built-in monitoring</a:t>
            </a:r>
          </a:p>
        </p:txBody>
      </p:sp>
      <p:sp>
        <p:nvSpPr>
          <p:cNvPr id="113" name="Google Shape;121;p5"/>
          <p:cNvSpPr/>
          <p:nvPr/>
        </p:nvSpPr>
        <p:spPr>
          <a:xfrm>
            <a:off x="2443381" y="3965926"/>
            <a:ext cx="878701" cy="613801"/>
          </a:xfrm>
          <a:prstGeom prst="roundRect">
            <a:avLst>
              <a:gd name="adj" fmla="val 8894"/>
            </a:avLst>
          </a:prstGeom>
          <a:solidFill>
            <a:srgbClr val="F4F1DE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19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14" name="Google Shape;122;p5"/>
          <p:cNvSpPr txBox="1"/>
          <p:nvPr/>
        </p:nvSpPr>
        <p:spPr>
          <a:xfrm>
            <a:off x="2518117" y="4034059"/>
            <a:ext cx="729301" cy="2252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800">
                <a:solidFill>
                  <a:srgbClr val="87A96B"/>
                </a:solidFill>
              </a:defRPr>
            </a:lvl1pPr>
          </a:lstStyle>
          <a:p>
            <a:pPr/>
            <a:r>
              <a:t>Hardware + Subscription</a:t>
            </a:r>
          </a:p>
        </p:txBody>
      </p:sp>
      <p:sp>
        <p:nvSpPr>
          <p:cNvPr id="115" name="Google Shape;123;p5"/>
          <p:cNvSpPr txBox="1"/>
          <p:nvPr/>
        </p:nvSpPr>
        <p:spPr>
          <a:xfrm>
            <a:off x="2518117" y="4306904"/>
            <a:ext cx="729301" cy="1748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700">
                <a:solidFill>
                  <a:srgbClr val="5A5A5A"/>
                </a:solidFill>
              </a:defRPr>
            </a:lvl1pPr>
          </a:lstStyle>
          <a:p>
            <a:pPr/>
            <a:r>
              <a:t>Revenue &amp; upselling</a:t>
            </a:r>
          </a:p>
        </p:txBody>
      </p:sp>
      <p:sp>
        <p:nvSpPr>
          <p:cNvPr id="116" name="Google Shape;124;p5"/>
          <p:cNvSpPr/>
          <p:nvPr/>
        </p:nvSpPr>
        <p:spPr>
          <a:xfrm>
            <a:off x="0" y="4673649"/>
            <a:ext cx="9144000" cy="469802"/>
          </a:xfrm>
          <a:prstGeom prst="rect">
            <a:avLst/>
          </a:prstGeom>
          <a:solidFill>
            <a:srgbClr val="2C2C2C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17" name="Google Shape;125;p5"/>
          <p:cNvSpPr txBox="1"/>
          <p:nvPr/>
        </p:nvSpPr>
        <p:spPr>
          <a:xfrm>
            <a:off x="555233" y="739600"/>
            <a:ext cx="8013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87A96B"/>
                </a:solidFill>
              </a:defRPr>
            </a:lvl1pPr>
          </a:lstStyle>
          <a:p>
            <a:pPr/>
            <a:r>
              <a:t>$4.5M</a:t>
            </a:r>
          </a:p>
        </p:txBody>
      </p:sp>
      <p:sp>
        <p:nvSpPr>
          <p:cNvPr id="118" name="Google Shape;126;p5"/>
          <p:cNvSpPr txBox="1"/>
          <p:nvPr/>
        </p:nvSpPr>
        <p:spPr>
          <a:xfrm>
            <a:off x="555233" y="923700"/>
            <a:ext cx="8013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700">
                <a:solidFill>
                  <a:srgbClr val="AAAAAA"/>
                </a:solidFill>
              </a:defRPr>
            </a:lvl1pPr>
          </a:lstStyle>
          <a:p>
            <a:pPr/>
            <a:r>
              <a:t>Series A Investment</a:t>
            </a:r>
          </a:p>
        </p:txBody>
      </p:sp>
      <p:sp>
        <p:nvSpPr>
          <p:cNvPr id="119" name="Google Shape;127;p5"/>
          <p:cNvSpPr txBox="1"/>
          <p:nvPr/>
        </p:nvSpPr>
        <p:spPr>
          <a:xfrm>
            <a:off x="1525228" y="739600"/>
            <a:ext cx="821400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87A96B"/>
                </a:solidFill>
              </a:defRPr>
            </a:lvl1pPr>
          </a:lstStyle>
          <a:p>
            <a:pPr/>
            <a:r>
              <a:t>50-55%</a:t>
            </a:r>
          </a:p>
        </p:txBody>
      </p:sp>
      <p:sp>
        <p:nvSpPr>
          <p:cNvPr id="120" name="Google Shape;128;p5"/>
          <p:cNvSpPr txBox="1"/>
          <p:nvPr/>
        </p:nvSpPr>
        <p:spPr>
          <a:xfrm>
            <a:off x="1525228" y="923700"/>
            <a:ext cx="8214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700">
                <a:solidFill>
                  <a:srgbClr val="AAAAAA"/>
                </a:solidFill>
              </a:defRPr>
            </a:lvl1pPr>
          </a:lstStyle>
          <a:p>
            <a:pPr/>
            <a:r>
              <a:t>Target Gross Margin</a:t>
            </a:r>
          </a:p>
        </p:txBody>
      </p:sp>
      <p:sp>
        <p:nvSpPr>
          <p:cNvPr id="121" name="Google Shape;129;p5"/>
          <p:cNvSpPr txBox="1"/>
          <p:nvPr/>
        </p:nvSpPr>
        <p:spPr>
          <a:xfrm>
            <a:off x="2515313" y="739600"/>
            <a:ext cx="8121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87A96B"/>
                </a:solidFill>
              </a:defRPr>
            </a:lvl1pPr>
          </a:lstStyle>
          <a:p>
            <a:pPr/>
            <a:r>
              <a:t>10% CAGR</a:t>
            </a:r>
          </a:p>
        </p:txBody>
      </p:sp>
      <p:sp>
        <p:nvSpPr>
          <p:cNvPr id="122" name="Google Shape;130;p5"/>
          <p:cNvSpPr txBox="1"/>
          <p:nvPr/>
        </p:nvSpPr>
        <p:spPr>
          <a:xfrm>
            <a:off x="2515313" y="923700"/>
            <a:ext cx="8121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700">
                <a:solidFill>
                  <a:srgbClr val="AAAAAA"/>
                </a:solidFill>
              </a:defRPr>
            </a:lvl1pPr>
          </a:lstStyle>
          <a:p>
            <a:pPr/>
            <a:r>
              <a:t>Market Growth Rate</a:t>
            </a:r>
          </a:p>
        </p:txBody>
      </p:sp>
      <p:sp>
        <p:nvSpPr>
          <p:cNvPr id="123" name="Google Shape;131;p5"/>
          <p:cNvSpPr txBox="1"/>
          <p:nvPr/>
        </p:nvSpPr>
        <p:spPr>
          <a:xfrm>
            <a:off x="6895993" y="4749849"/>
            <a:ext cx="1994107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1200">
                <a:solidFill>
                  <a:srgbClr val="F4F1DE"/>
                </a:solidFill>
              </a:defRPr>
            </a:lvl1pPr>
          </a:lstStyle>
          <a:p>
            <a:pPr/>
            <a:r>
              <a:t>Vividly</a:t>
            </a:r>
          </a:p>
        </p:txBody>
      </p:sp>
      <p:sp>
        <p:nvSpPr>
          <p:cNvPr id="124" name="Google Shape;132;p5"/>
          <p:cNvSpPr txBox="1"/>
          <p:nvPr/>
        </p:nvSpPr>
        <p:spPr>
          <a:xfrm>
            <a:off x="6895993" y="4933950"/>
            <a:ext cx="1994107" cy="127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i="1" sz="900">
                <a:solidFill>
                  <a:srgbClr val="E07A5F"/>
                </a:solidFill>
              </a:defRPr>
            </a:lvl1pPr>
          </a:lstStyle>
          <a:p>
            <a:pPr/>
            <a:r>
              <a:t>Independence. Dignity. Peace of Mind.</a:t>
            </a:r>
          </a:p>
        </p:txBody>
      </p:sp>
      <p:sp>
        <p:nvSpPr>
          <p:cNvPr id="125" name="Google Shape;133;p5"/>
          <p:cNvSpPr/>
          <p:nvPr/>
        </p:nvSpPr>
        <p:spPr>
          <a:xfrm>
            <a:off x="4041080" y="734898"/>
            <a:ext cx="4442101" cy="269701"/>
          </a:xfrm>
          <a:prstGeom prst="roundRect">
            <a:avLst>
              <a:gd name="adj" fmla="val 18837"/>
            </a:avLst>
          </a:prstGeom>
          <a:solidFill>
            <a:srgbClr val="2C2C2C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26" name="Google Shape;134;p5"/>
          <p:cNvSpPr txBox="1"/>
          <p:nvPr/>
        </p:nvSpPr>
        <p:spPr>
          <a:xfrm>
            <a:off x="4121372" y="798291"/>
            <a:ext cx="4234801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REVENUE PROJECTION</a:t>
            </a:r>
          </a:p>
        </p:txBody>
      </p:sp>
      <p:sp>
        <p:nvSpPr>
          <p:cNvPr id="127" name="Google Shape;135;p5"/>
          <p:cNvSpPr/>
          <p:nvPr/>
        </p:nvSpPr>
        <p:spPr>
          <a:xfrm>
            <a:off x="4050053" y="1045969"/>
            <a:ext cx="1378501" cy="631501"/>
          </a:xfrm>
          <a:prstGeom prst="roundRect">
            <a:avLst>
              <a:gd name="adj" fmla="val 8043"/>
            </a:avLst>
          </a:prstGeom>
          <a:solidFill>
            <a:srgbClr val="F4F1DE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28" name="Google Shape;136;p5"/>
          <p:cNvSpPr txBox="1"/>
          <p:nvPr/>
        </p:nvSpPr>
        <p:spPr>
          <a:xfrm>
            <a:off x="3664186" y="1122174"/>
            <a:ext cx="21612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800">
                <a:solidFill>
                  <a:srgbClr val="5A5A5A"/>
                </a:solidFill>
              </a:defRPr>
            </a:lvl1pPr>
          </a:lstStyle>
          <a:p>
            <a:pPr/>
            <a:r>
              <a:t>Year 1</a:t>
            </a:r>
          </a:p>
        </p:txBody>
      </p:sp>
      <p:sp>
        <p:nvSpPr>
          <p:cNvPr id="129" name="Google Shape;137;p5"/>
          <p:cNvSpPr txBox="1"/>
          <p:nvPr/>
        </p:nvSpPr>
        <p:spPr>
          <a:xfrm>
            <a:off x="3664186" y="1261773"/>
            <a:ext cx="2161201" cy="2096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500">
                <a:solidFill>
                  <a:srgbClr val="2C2C2C"/>
                </a:solidFill>
              </a:defRPr>
            </a:lvl1pPr>
          </a:lstStyle>
          <a:p>
            <a:pPr/>
            <a:r>
              <a:t>$1.07M</a:t>
            </a:r>
          </a:p>
        </p:txBody>
      </p:sp>
      <p:sp>
        <p:nvSpPr>
          <p:cNvPr id="130" name="Google Shape;138;p5"/>
          <p:cNvSpPr txBox="1"/>
          <p:nvPr/>
        </p:nvSpPr>
        <p:spPr>
          <a:xfrm>
            <a:off x="3664186" y="1506150"/>
            <a:ext cx="21612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700">
                <a:solidFill>
                  <a:srgbClr val="5A5A5A"/>
                </a:solidFill>
              </a:defRPr>
            </a:lvl1pPr>
          </a:lstStyle>
          <a:p>
            <a:pPr/>
            <a:r>
              <a:t>150 units | $95K subscriptions</a:t>
            </a:r>
          </a:p>
        </p:txBody>
      </p:sp>
      <p:sp>
        <p:nvSpPr>
          <p:cNvPr id="131" name="Google Shape;139;p5"/>
          <p:cNvSpPr/>
          <p:nvPr/>
        </p:nvSpPr>
        <p:spPr>
          <a:xfrm>
            <a:off x="5483555" y="1045969"/>
            <a:ext cx="1408201" cy="631501"/>
          </a:xfrm>
          <a:prstGeom prst="roundRect">
            <a:avLst>
              <a:gd name="adj" fmla="val 8043"/>
            </a:avLst>
          </a:prstGeom>
          <a:solidFill>
            <a:srgbClr val="F4F1DE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32" name="Google Shape;140;p5"/>
          <p:cNvSpPr txBox="1"/>
          <p:nvPr/>
        </p:nvSpPr>
        <p:spPr>
          <a:xfrm>
            <a:off x="5108962" y="1122175"/>
            <a:ext cx="216120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800">
                <a:solidFill>
                  <a:srgbClr val="5A5A5A"/>
                </a:solidFill>
              </a:defRPr>
            </a:lvl1pPr>
          </a:lstStyle>
          <a:p>
            <a:pPr/>
            <a:r>
              <a:t>Year 2</a:t>
            </a:r>
          </a:p>
        </p:txBody>
      </p:sp>
      <p:sp>
        <p:nvSpPr>
          <p:cNvPr id="133" name="Google Shape;141;p5"/>
          <p:cNvSpPr txBox="1"/>
          <p:nvPr/>
        </p:nvSpPr>
        <p:spPr>
          <a:xfrm>
            <a:off x="5108962" y="1261776"/>
            <a:ext cx="2161202" cy="2096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500">
                <a:solidFill>
                  <a:srgbClr val="2C2C2C"/>
                </a:solidFill>
              </a:defRPr>
            </a:lvl1pPr>
          </a:lstStyle>
          <a:p>
            <a:pPr/>
            <a:r>
              <a:t>$3.75M</a:t>
            </a:r>
          </a:p>
        </p:txBody>
      </p:sp>
      <p:sp>
        <p:nvSpPr>
          <p:cNvPr id="134" name="Google Shape;142;p5"/>
          <p:cNvSpPr txBox="1"/>
          <p:nvPr/>
        </p:nvSpPr>
        <p:spPr>
          <a:xfrm>
            <a:off x="5108962" y="1506151"/>
            <a:ext cx="216120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700">
                <a:solidFill>
                  <a:srgbClr val="5A5A5A"/>
                </a:solidFill>
              </a:defRPr>
            </a:lvl1pPr>
          </a:lstStyle>
          <a:p>
            <a:pPr/>
            <a:r>
              <a:t>500 units | $500K subscriptions</a:t>
            </a:r>
          </a:p>
        </p:txBody>
      </p:sp>
      <p:sp>
        <p:nvSpPr>
          <p:cNvPr id="135" name="Google Shape;143;p5"/>
          <p:cNvSpPr/>
          <p:nvPr/>
        </p:nvSpPr>
        <p:spPr>
          <a:xfrm>
            <a:off x="6953487" y="1045969"/>
            <a:ext cx="1529101" cy="631501"/>
          </a:xfrm>
          <a:prstGeom prst="roundRect">
            <a:avLst>
              <a:gd name="adj" fmla="val 8043"/>
            </a:avLst>
          </a:prstGeom>
          <a:solidFill>
            <a:srgbClr val="F4F1DE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36" name="Google Shape;144;p5"/>
          <p:cNvSpPr txBox="1"/>
          <p:nvPr/>
        </p:nvSpPr>
        <p:spPr>
          <a:xfrm>
            <a:off x="6624018" y="1122178"/>
            <a:ext cx="21612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800">
                <a:solidFill>
                  <a:srgbClr val="5A5A5A"/>
                </a:solidFill>
              </a:defRPr>
            </a:lvl1pPr>
          </a:lstStyle>
          <a:p>
            <a:pPr/>
            <a:r>
              <a:t>Year 3</a:t>
            </a:r>
          </a:p>
        </p:txBody>
      </p:sp>
      <p:sp>
        <p:nvSpPr>
          <p:cNvPr id="137" name="Google Shape;145;p5"/>
          <p:cNvSpPr txBox="1"/>
          <p:nvPr/>
        </p:nvSpPr>
        <p:spPr>
          <a:xfrm>
            <a:off x="6624018" y="1261778"/>
            <a:ext cx="2161201" cy="2096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500">
                <a:solidFill>
                  <a:srgbClr val="2C2C2C"/>
                </a:solidFill>
              </a:defRPr>
            </a:lvl1pPr>
          </a:lstStyle>
          <a:p>
            <a:pPr/>
            <a:r>
              <a:t>$8.65M</a:t>
            </a:r>
          </a:p>
        </p:txBody>
      </p:sp>
      <p:sp>
        <p:nvSpPr>
          <p:cNvPr id="138" name="Google Shape;146;p5"/>
          <p:cNvSpPr txBox="1"/>
          <p:nvPr/>
        </p:nvSpPr>
        <p:spPr>
          <a:xfrm>
            <a:off x="6624018" y="1506154"/>
            <a:ext cx="21612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700">
                <a:solidFill>
                  <a:srgbClr val="5A5A5A"/>
                </a:solidFill>
              </a:defRPr>
            </a:lvl1pPr>
          </a:lstStyle>
          <a:p>
            <a:pPr/>
            <a:r>
              <a:t>1,100 units | $1.5M subscriptions</a:t>
            </a:r>
          </a:p>
        </p:txBody>
      </p:sp>
      <p:pic>
        <p:nvPicPr>
          <p:cNvPr id="139" name="Google Shape;147;p5" descr="Google Shape;147;p5"/>
          <p:cNvPicPr>
            <a:picLocks noChangeAspect="1"/>
          </p:cNvPicPr>
          <p:nvPr/>
        </p:nvPicPr>
        <p:blipFill>
          <a:blip r:embed="rId2">
            <a:extLst/>
          </a:blip>
          <a:srcRect l="6420" t="0" r="7051" b="0"/>
          <a:stretch>
            <a:fillRect/>
          </a:stretch>
        </p:blipFill>
        <p:spPr>
          <a:xfrm>
            <a:off x="4050055" y="1785697"/>
            <a:ext cx="4432526" cy="279402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