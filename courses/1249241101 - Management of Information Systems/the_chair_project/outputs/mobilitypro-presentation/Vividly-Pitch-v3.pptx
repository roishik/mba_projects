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6950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687586"/>
            <a:ext cx="427482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5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Vividly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71500" y="1567011"/>
            <a:ext cx="427482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2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Independence. Dignity. Peace of Mind.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71500" y="2513112"/>
            <a:ext cx="4191000" cy="492026"/>
          </a:xfrm>
          <a:prstGeom prst="roundRect">
            <a:avLst>
              <a:gd name="adj" fmla="val 64529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2640062"/>
            <a:ext cx="36272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Autonomous Wheelchair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3259038"/>
            <a:ext cx="4274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Revolutionizing elderly mobility with AI-powered navigation, continuous health monitoring, and connected care.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70450" y="1033462"/>
            <a:ext cx="2793950" cy="2793950"/>
          </a:xfrm>
          <a:prstGeom prst="roundRect">
            <a:avLst>
              <a:gd name="adj" fmla="val 32728"/>
            </a:avLst>
          </a:prstGeom>
          <a:solidFill>
            <a:srgbClr val="87A96B"/>
          </a:solidFill>
          <a:ln/>
          <a:effectLst>
            <a:outerShdw sx="100000" sy="100000" kx="0" ky="0" algn="bl" rotWithShape="0" blurRad="254000" dist="89803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51450" y="1414463"/>
            <a:ext cx="2031950" cy="2031950"/>
          </a:xfrm>
          <a:prstGeom prst="roundRect">
            <a:avLst>
              <a:gd name="adj" fmla="val 4500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18945" y="1911251"/>
            <a:ext cx="710901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0" y="4607123"/>
            <a:ext cx="9144000" cy="536377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4784824"/>
            <a:ext cx="187979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Presentation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3834" y="4784824"/>
            <a:ext cx="22324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Comfy Chairs Ltd.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Our Solution, and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9350" y="723900"/>
            <a:ext cx="2884140" cy="323850"/>
          </a:xfrm>
          <a:prstGeom prst="roundRect">
            <a:avLst>
              <a:gd name="adj" fmla="val 19608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5957" y="800100"/>
            <a:ext cx="26309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AGING CRISIS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9350" y="1149251"/>
            <a:ext cx="1391245" cy="903833"/>
          </a:xfrm>
          <a:prstGeom prst="roundRect">
            <a:avLst>
              <a:gd name="adj" fmla="val 7026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03163" y="1149251"/>
            <a:ext cx="0" cy="90383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029" y="1250752"/>
            <a:ext cx="1111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3029" y="1555552"/>
            <a:ext cx="1111514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65+ will double by 2050 in Western countries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72096" y="1149251"/>
            <a:ext cx="1391394" cy="903833"/>
          </a:xfrm>
          <a:prstGeom prst="roundRect">
            <a:avLst>
              <a:gd name="adj" fmla="val 7026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795909" y="1149251"/>
            <a:ext cx="0" cy="90383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5773" y="1250752"/>
            <a:ext cx="1111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 to 2:1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35773" y="1555552"/>
            <a:ext cx="111166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per retiree ratio dropping in EU/US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9350" y="2154585"/>
            <a:ext cx="1391245" cy="771823"/>
          </a:xfrm>
          <a:prstGeom prst="roundRect">
            <a:avLst>
              <a:gd name="adj" fmla="val 8227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3163" y="2154585"/>
            <a:ext cx="0" cy="77182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029" y="2256086"/>
            <a:ext cx="11115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3029" y="2560886"/>
            <a:ext cx="111151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 need wheelchairs today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72096" y="2154585"/>
            <a:ext cx="1391394" cy="771823"/>
          </a:xfrm>
          <a:prstGeom prst="roundRect">
            <a:avLst>
              <a:gd name="adj" fmla="val 8227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795909" y="2154585"/>
            <a:ext cx="0" cy="771823"/>
          </a:xfrm>
          <a:prstGeom prst="line">
            <a:avLst/>
          </a:prstGeom>
          <a:noFill/>
          <a:ln w="47625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35773" y="2256086"/>
            <a:ext cx="1111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35773" y="2560886"/>
            <a:ext cx="111166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spcBef>
                <a:spcPts val="3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size decline since 1970 in the West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9350" y="3027908"/>
            <a:ext cx="2884140" cy="558403"/>
          </a:xfrm>
          <a:prstGeom prst="roundRect">
            <a:avLst>
              <a:gd name="adj" fmla="val 11372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9998" y="3129409"/>
            <a:ext cx="268284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seniors. Fewer caregivers. Smaller families. The care gap is widening every year.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9350" y="3687812"/>
            <a:ext cx="2884140" cy="800844"/>
          </a:xfrm>
          <a:prstGeom prst="roundRect">
            <a:avLst>
              <a:gd name="adj" fmla="val 7929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6301" y="3789313"/>
            <a:ext cx="26828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wheelchairs create total dependency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6301" y="3988594"/>
            <a:ext cx="26828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issues go undetected until emergencies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301" y="4187875"/>
            <a:ext cx="268284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caregiver shortage in US by 2030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92091" y="723900"/>
            <a:ext cx="2622054" cy="323850"/>
          </a:xfrm>
          <a:prstGeom prst="roundRect">
            <a:avLst>
              <a:gd name="adj" fmla="val 19608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21318" y="800100"/>
            <a:ext cx="2363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92091" y="1136600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15903" y="1136600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666" y="1212800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 + VitalRide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666" y="1380976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wheelchairs for consumers and facilities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92091" y="1660327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415903" y="1660327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666" y="1736527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Navigation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666" y="1904702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AI for point-to-point travel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92091" y="2184053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415903" y="2184053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666" y="2260253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666" y="2428429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respiratory, fall detection 24/7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92091" y="2707779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415903" y="2707779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666" y="2783979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Safety Alerts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66666" y="2952155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Geofencing, emergency SOS, caregiver alerts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392091" y="3231505"/>
            <a:ext cx="2622054" cy="434876"/>
          </a:xfrm>
          <a:prstGeom prst="roundRect">
            <a:avLst>
              <a:gd name="adj" fmla="val 14602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415903" y="3231505"/>
            <a:ext cx="0" cy="434876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666" y="3307705"/>
            <a:ext cx="23669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Dashboard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66666" y="3475881"/>
            <a:ext cx="23669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telehealth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42745" y="723900"/>
            <a:ext cx="2621905" cy="323850"/>
          </a:xfrm>
          <a:prstGeom prst="roundRect">
            <a:avLst>
              <a:gd name="adj" fmla="val 19608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71973" y="800100"/>
            <a:ext cx="23634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42745" y="1136600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266557" y="1136600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17320" y="1212800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Computer Vision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17320" y="1380976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point-to-point navigation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42745" y="1660327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266557" y="1660327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7320" y="1736527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UWB Indoor Positioning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17320" y="1904702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Sub-10cm accuracy indoors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42745" y="2184053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266557" y="2184053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17320" y="2260253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PPG + Piezoelectric Sensors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17320" y="2428429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and respiratory monitoring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42745" y="2707779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266557" y="2707779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17320" y="2783979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Processing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417320" y="2952155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anomaly detection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42745" y="3231505"/>
            <a:ext cx="2621905" cy="434876"/>
          </a:xfrm>
          <a:prstGeom prst="roundRect">
            <a:avLst>
              <a:gd name="adj" fmla="val 14602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6266557" y="3231505"/>
            <a:ext cx="0" cy="434876"/>
          </a:xfrm>
          <a:prstGeom prst="line">
            <a:avLst/>
          </a:prstGeom>
          <a:noFill/>
          <a:ln w="47625">
            <a:solidFill>
              <a:srgbClr val="D4A57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7320" y="3307705"/>
            <a:ext cx="2366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 APIs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17320" y="3475881"/>
            <a:ext cx="23667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Elevators, doors, telehealth integration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0" y="4658023"/>
            <a:ext cx="9144000" cy="485477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71506" y="4759523"/>
            <a:ext cx="800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71506" y="4927699"/>
            <a:ext cx="800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warnings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259467" y="4759523"/>
            <a:ext cx="765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1259467" y="4927699"/>
            <a:ext cx="7657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issues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213022" y="4759523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13022" y="4927699"/>
            <a:ext cx="794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Safety/navigation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195178" y="4759523"/>
            <a:ext cx="805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195178" y="4927699"/>
            <a:ext cx="805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188419" y="4759523"/>
            <a:ext cx="809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188419" y="4927699"/>
            <a:ext cx="8097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tracking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04037" y="4834086"/>
            <a:ext cx="9521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Compliant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266087" y="4834086"/>
            <a:ext cx="6759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Class II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157418" y="4834086"/>
            <a:ext cx="721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1076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and Growth Strategy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3901" y="638026"/>
            <a:ext cx="3353693" cy="1916311"/>
          </a:xfrm>
          <a:prstGeom prst="roundRect">
            <a:avLst>
              <a:gd name="adj" fmla="val 3976"/>
            </a:avLst>
          </a:prstGeom>
          <a:solidFill>
            <a:srgbClr val="F0F5ED"/>
          </a:solidFill>
          <a:ln w="19050">
            <a:solidFill>
              <a:srgbClr val="87A9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758577"/>
            <a:ext cx="431750" cy="209550"/>
          </a:xfrm>
          <a:prstGeom prst="roundRect">
            <a:avLst>
              <a:gd name="adj" fmla="val 60606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1402" y="796677"/>
            <a:ext cx="233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33152" y="787152"/>
            <a:ext cx="1377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9901" y="1031528"/>
            <a:ext cx="312292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homes, rehab centers, VA hospitals, academic medical centers, airports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9901" y="1346299"/>
            <a:ext cx="31229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VitalRide: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Vital monitoring, fleet management, EHR integration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9901" y="1651099"/>
            <a:ext cx="3122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$4,500-8,000/unit | Subscription: $99-299/month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3901" y="2655838"/>
            <a:ext cx="3353693" cy="1916311"/>
          </a:xfrm>
          <a:prstGeom prst="roundRect">
            <a:avLst>
              <a:gd name="adj" fmla="val 3976"/>
            </a:avLst>
          </a:prstGeom>
          <a:solidFill>
            <a:srgbClr val="FDF6F0"/>
          </a:solidFill>
          <a:ln w="19050">
            <a:solidFill>
              <a:srgbClr val="E07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9901" y="2776389"/>
            <a:ext cx="431750" cy="209550"/>
          </a:xfrm>
          <a:prstGeom prst="roundRect">
            <a:avLst>
              <a:gd name="adj" fmla="val 6060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402" y="2814489"/>
            <a:ext cx="233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3152" y="2804964"/>
            <a:ext cx="11476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Consumer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9901" y="3049339"/>
            <a:ext cx="312292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aging at home, family caregivers, disability community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9901" y="3232100"/>
            <a:ext cx="31229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AutoGlide:</a:t>
            </a:r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autonomous navigation, health suite, family dashboard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9901" y="3536900"/>
            <a:ext cx="3122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$5,500-9,500 | CareConnect: $29-79/month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98094" y="638026"/>
            <a:ext cx="2321719" cy="269677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78407" y="701427"/>
            <a:ext cx="21610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8094" y="971104"/>
            <a:ext cx="2321719" cy="631627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78407" y="1047304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78407" y="1186904"/>
            <a:ext cx="21610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$1.07M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78407" y="1431280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units | $95K subscriptions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798094" y="1666131"/>
            <a:ext cx="2321719" cy="631627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78407" y="1742331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78407" y="1881932"/>
            <a:ext cx="21610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$3.75M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878407" y="2126307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units | $500K subscriptions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798094" y="2361158"/>
            <a:ext cx="2321719" cy="631627"/>
          </a:xfrm>
          <a:prstGeom prst="roundRect">
            <a:avLst>
              <a:gd name="adj" fmla="val 8043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78407" y="2437358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78407" y="2576959"/>
            <a:ext cx="21610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$8.65M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78407" y="2821335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 units | $1.5M subscriptions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98094" y="3056186"/>
            <a:ext cx="2321719" cy="612577"/>
          </a:xfrm>
          <a:prstGeom prst="roundRect">
            <a:avLst>
              <a:gd name="adj" fmla="val 8293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78407" y="3132386"/>
            <a:ext cx="21610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78407" y="3271986"/>
            <a:ext cx="216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78407" y="3497312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F0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Chair Market by 2034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10313" y="638026"/>
            <a:ext cx="2579787" cy="269677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88045" y="701427"/>
            <a:ext cx="2424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10313" y="971104"/>
            <a:ext cx="2579787" cy="647254"/>
          </a:xfrm>
          <a:prstGeom prst="roundRect">
            <a:avLst>
              <a:gd name="adj" fmla="val 7849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329363" y="971104"/>
            <a:ext cx="0" cy="64725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9913" y="1034504"/>
            <a:ext cx="238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VALIDATE (M1-12)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49913" y="1174105"/>
            <a:ext cx="2385459" cy="38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programs with 3-5 nursing homes and VA hospitals. Build clinical evidence and reference customers.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10313" y="1681758"/>
            <a:ext cx="2579787" cy="520303"/>
          </a:xfrm>
          <a:prstGeom prst="roundRect">
            <a:avLst>
              <a:gd name="adj" fmla="val 976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329363" y="1681758"/>
            <a:ext cx="0" cy="52030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9913" y="1745159"/>
            <a:ext cx="238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LAUNCH (M9-18)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49913" y="1884759"/>
            <a:ext cx="238545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launch via DME dealers, e-commerce, healthcare provider referrals.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10313" y="2265462"/>
            <a:ext cx="2579787" cy="520303"/>
          </a:xfrm>
          <a:prstGeom prst="roundRect">
            <a:avLst>
              <a:gd name="adj" fmla="val 9764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29363" y="2265462"/>
            <a:ext cx="0" cy="520303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9913" y="2328863"/>
            <a:ext cx="238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 (Y2-3)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49913" y="2468463"/>
            <a:ext cx="238545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reimbursement, insurance partnerships, international expansion (UK NHS, EU).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10313" y="2887266"/>
            <a:ext cx="2579787" cy="269677"/>
          </a:xfrm>
          <a:prstGeom prst="roundRect">
            <a:avLst>
              <a:gd name="adj" fmla="val 1883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88045" y="2950666"/>
            <a:ext cx="24243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10313" y="3220343"/>
            <a:ext cx="817662" cy="571202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379860" y="3283744"/>
            <a:ext cx="67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79860" y="3537645"/>
            <a:ext cx="678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point-to-point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191375" y="3220343"/>
            <a:ext cx="817662" cy="571202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260922" y="3283744"/>
            <a:ext cx="67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Health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60922" y="3537645"/>
            <a:ext cx="678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072438" y="3220343"/>
            <a:ext cx="817662" cy="571202"/>
          </a:xfrm>
          <a:prstGeom prst="roundRect">
            <a:avLst>
              <a:gd name="adj" fmla="val 889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41985" y="3283744"/>
            <a:ext cx="678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Market-Ready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141985" y="3537645"/>
            <a:ext cx="678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0" y="4673650"/>
            <a:ext cx="9144000" cy="469850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46046" y="4768900"/>
            <a:ext cx="801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46046" y="4953000"/>
            <a:ext cx="8012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Investment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285265" y="4768900"/>
            <a:ext cx="8212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50-55%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285265" y="4953000"/>
            <a:ext cx="8212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Gross Margin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344326" y="4768900"/>
            <a:ext cx="8212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344326" y="4953000"/>
            <a:ext cx="8212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510(k) Timeline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403477" y="4768900"/>
            <a:ext cx="8120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CAGR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403477" y="4953000"/>
            <a:ext cx="812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 Rate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895993" y="4749850"/>
            <a:ext cx="19941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Vividly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95993" y="4933950"/>
            <a:ext cx="1994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00"/>
              </a:spcBef>
              <a:buNone/>
            </a:pPr>
            <a:r>
              <a:rPr lang="en-US" sz="9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Independence. Dignity. Peace of Mind.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Vividly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Vividly - Smart Wheelchair Investor Pitch</dc:title>
  <dc:subject>Investor Presentation - Smart Autonomous Wheelchair</dc:subject>
  <dc:creator>Vividly Team</dc:creator>
  <cp:lastModifiedBy>Vividly Team</cp:lastModifiedBy>
  <cp:revision>1</cp:revision>
  <dcterms:created xsi:type="dcterms:W3CDTF">2026-01-24T15:37:41Z</dcterms:created>
  <dcterms:modified xsi:type="dcterms:W3CDTF">2026-01-24T15:37:41Z</dcterms:modified>
</cp:coreProperties>
</file>