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881360"/>
            <a:ext cx="4404613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MobilityPro Health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34901" y="2068711"/>
            <a:ext cx="44046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1800" i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Independence. Dignity. Peace of Mind.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2643336"/>
            <a:ext cx="4318248" cy="403027"/>
          </a:xfrm>
          <a:prstGeom prst="roundRect">
            <a:avLst>
              <a:gd name="adj" fmla="val 63023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802" y="2744837"/>
            <a:ext cx="3886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Autonomous Wheelchair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3300264"/>
            <a:ext cx="4404613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Revolutionizing elderly mobility with AI-powered navigation, continuous health monitoring, and connected care.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99" y="1192113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87A96B"/>
          </a:solidFill>
          <a:ln/>
          <a:effectLst>
            <a:outerShdw sx="100000" sy="100000" kx="0" ky="0" algn="bl" rotWithShape="0" blurRad="190500" dist="71842" dir="27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2099" y="1573113"/>
            <a:ext cx="1777901" cy="1777901"/>
          </a:xfrm>
          <a:prstGeom prst="roundRect">
            <a:avLst>
              <a:gd name="adj" fmla="val 5143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5389" y="2114401"/>
            <a:ext cx="1072348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4695825"/>
            <a:ext cx="9144000" cy="447675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4901" y="4848225"/>
            <a:ext cx="15661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Presentation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85657" y="4848225"/>
            <a:ext cx="18599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1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Transforming Comfy Chairs Ltd.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Our Solution, and 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3901" y="618976"/>
            <a:ext cx="2929235" cy="269677"/>
          </a:xfrm>
          <a:prstGeom prst="roundRect">
            <a:avLst>
              <a:gd name="adj" fmla="val 1883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4098" y="682377"/>
            <a:ext cx="2728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AGING CRISIS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3901" y="964853"/>
            <a:ext cx="1426518" cy="600373"/>
          </a:xfrm>
          <a:prstGeom prst="roundRect">
            <a:avLst>
              <a:gd name="adj" fmla="val 8461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2951" y="964853"/>
            <a:ext cx="0" cy="600373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647" y="1041053"/>
            <a:ext cx="1209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1647" y="1275904"/>
            <a:ext cx="120912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65+ will double by 2050 in Western countries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756618" y="964853"/>
            <a:ext cx="1426518" cy="600373"/>
          </a:xfrm>
          <a:prstGeom prst="roundRect">
            <a:avLst>
              <a:gd name="adj" fmla="val 8461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775668" y="964853"/>
            <a:ext cx="0" cy="600373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4365" y="1041053"/>
            <a:ext cx="1209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 to 2:1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84365" y="1275904"/>
            <a:ext cx="120912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per retiree ratio dropping in EU/US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53901" y="1641425"/>
            <a:ext cx="1426518" cy="600373"/>
          </a:xfrm>
          <a:prstGeom prst="roundRect">
            <a:avLst>
              <a:gd name="adj" fmla="val 8461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2951" y="1641425"/>
            <a:ext cx="0" cy="600373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647" y="1717625"/>
            <a:ext cx="1209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647" y="1952476"/>
            <a:ext cx="120912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worldwide need wheelchairs today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756618" y="1641425"/>
            <a:ext cx="1426518" cy="600373"/>
          </a:xfrm>
          <a:prstGeom prst="roundRect">
            <a:avLst>
              <a:gd name="adj" fmla="val 8461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775668" y="1641425"/>
            <a:ext cx="0" cy="600373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4365" y="1717625"/>
            <a:ext cx="12091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84365" y="1952476"/>
            <a:ext cx="120912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size decline since 1970 in the West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3901" y="2317998"/>
            <a:ext cx="2929235" cy="416421"/>
          </a:xfrm>
          <a:prstGeom prst="roundRect">
            <a:avLst>
              <a:gd name="adj" fmla="val 12199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8139" y="2394198"/>
            <a:ext cx="27807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seniors. Fewer caregivers. Smaller families. The care gap is widening every year.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901" y="2810619"/>
            <a:ext cx="2929235" cy="632371"/>
          </a:xfrm>
          <a:prstGeom prst="roundRect">
            <a:avLst>
              <a:gd name="adj" fmla="val 8033"/>
            </a:avLst>
          </a:prstGeom>
          <a:solidFill>
            <a:srgbClr val="FDF6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5402" y="2886819"/>
            <a:ext cx="278075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wheelchairs create total dependency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5402" y="3046809"/>
            <a:ext cx="278075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issues go undetected until emergencies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5402" y="3206800"/>
            <a:ext cx="2780758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caregiver shortage in US by 2030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3636" y="618976"/>
            <a:ext cx="2662982" cy="269677"/>
          </a:xfrm>
          <a:prstGeom prst="roundRect">
            <a:avLst>
              <a:gd name="adj" fmla="val 18837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76496" y="682377"/>
            <a:ext cx="2457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73636" y="964853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392686" y="964853"/>
            <a:ext cx="0" cy="349002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3237" y="1028254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 + VitalRide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13237" y="1155204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wheelchairs for consumers and facilities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73636" y="1390055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392686" y="1390055"/>
            <a:ext cx="0" cy="349002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13237" y="1453455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Navigation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13237" y="1580406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AI for point-to-point travel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73636" y="1815257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392686" y="1815257"/>
            <a:ext cx="0" cy="349002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3237" y="1878657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13237" y="2005608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rate, respiratory, fall detection 24/7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373636" y="2240459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3392686" y="2240459"/>
            <a:ext cx="0" cy="349002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3237" y="2303859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Alerts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13237" y="2430810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Geofencing, emergency SOS, caregiver alerts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373636" y="2665661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0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3392686" y="2665661"/>
            <a:ext cx="0" cy="349002"/>
          </a:xfrm>
          <a:prstGeom prst="line">
            <a:avLst/>
          </a:prstGeom>
          <a:noFill/>
          <a:ln w="38100">
            <a:solidFill>
              <a:srgbClr val="87A9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13237" y="2729061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Dashboard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13237" y="2856012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and telehealth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27118" y="618976"/>
            <a:ext cx="2662982" cy="269677"/>
          </a:xfrm>
          <a:prstGeom prst="roundRect">
            <a:avLst>
              <a:gd name="adj" fmla="val 18837"/>
            </a:avLst>
          </a:prstGeom>
          <a:solidFill>
            <a:srgbClr val="D4A5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29977" y="682377"/>
            <a:ext cx="24572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27118" y="964853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246168" y="964853"/>
            <a:ext cx="0" cy="34900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6718" y="1028254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Computer Vision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66718" y="1155204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point-to-point navigation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227118" y="1390055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246168" y="1390055"/>
            <a:ext cx="0" cy="34900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6718" y="1453455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UWB Indoor Positioning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66718" y="1580406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Sub-10cm accuracy indoors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27118" y="1815257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6246168" y="1815257"/>
            <a:ext cx="0" cy="34900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6718" y="1878657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PPG + Piezoelectric Sensors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66718" y="2005608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and respiratory monitoring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227118" y="2240459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6246168" y="2240459"/>
            <a:ext cx="0" cy="34900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66718" y="2303859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Processing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66718" y="2430810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anomaly detection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227118" y="2665661"/>
            <a:ext cx="2662982" cy="349002"/>
          </a:xfrm>
          <a:prstGeom prst="roundRect">
            <a:avLst>
              <a:gd name="adj" fmla="val 14556"/>
            </a:avLst>
          </a:prstGeom>
          <a:solidFill>
            <a:srgbClr val="FDF8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6246168" y="2665661"/>
            <a:ext cx="0" cy="349002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66718" y="2729061"/>
            <a:ext cx="2470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Building APIs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66718" y="2856012"/>
            <a:ext cx="24703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Elevators, doors, telehealth integration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0" y="4778425"/>
            <a:ext cx="9144000" cy="365075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48013" y="4854625"/>
            <a:ext cx="6005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48013" y="4981575"/>
            <a:ext cx="6005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Cardiac warnings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989421" y="4854625"/>
            <a:ext cx="5756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Respiratory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989421" y="4981575"/>
            <a:ext cx="5756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issues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1705975" y="4854625"/>
            <a:ext cx="5962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705975" y="4981575"/>
            <a:ext cx="5962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Safety/navigation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2442889" y="4854625"/>
            <a:ext cx="6047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442889" y="4981575"/>
            <a:ext cx="6047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alerts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3188192" y="4854625"/>
            <a:ext cx="6076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188192" y="4981575"/>
            <a:ext cx="6076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tracking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717953" y="4913263"/>
            <a:ext cx="7403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Compliant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634288" y="4913263"/>
            <a:ext cx="525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Class II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340179" y="4913263"/>
            <a:ext cx="5609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92026"/>
          </a:xfrm>
          <a:prstGeom prst="rect">
            <a:avLst/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26950"/>
            <a:ext cx="85496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and Growth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3901" y="618976"/>
            <a:ext cx="3353693" cy="1894136"/>
          </a:xfrm>
          <a:prstGeom prst="roundRect">
            <a:avLst>
              <a:gd name="adj" fmla="val 4023"/>
            </a:avLst>
          </a:prstGeom>
          <a:solidFill>
            <a:srgbClr val="F0F5ED"/>
          </a:solidFill>
          <a:ln w="19050">
            <a:solidFill>
              <a:srgbClr val="87A9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9901" y="739527"/>
            <a:ext cx="406152" cy="190500"/>
          </a:xfrm>
          <a:prstGeom prst="roundRect">
            <a:avLst>
              <a:gd name="adj" fmla="val 66667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1402" y="777627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07554" y="763339"/>
            <a:ext cx="1252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Facilities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9901" y="993428"/>
            <a:ext cx="31229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Nursing homes, rehab centers, VA hospitals, academic medical centers, airports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99901" y="1275159"/>
            <a:ext cx="31229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VitalRide: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Vital monitoring, fleet management, EHR integration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9901" y="1427559"/>
            <a:ext cx="31229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$4,500-8,000/unit | Subscription: $99-299/month per unit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3901" y="2614613"/>
            <a:ext cx="3353693" cy="1894284"/>
          </a:xfrm>
          <a:prstGeom prst="roundRect">
            <a:avLst>
              <a:gd name="adj" fmla="val 4023"/>
            </a:avLst>
          </a:prstGeom>
          <a:solidFill>
            <a:srgbClr val="FDF6F0"/>
          </a:solidFill>
          <a:ln w="19050">
            <a:solidFill>
              <a:srgbClr val="E07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9901" y="2735163"/>
            <a:ext cx="406152" cy="190500"/>
          </a:xfrm>
          <a:prstGeom prst="roundRect">
            <a:avLst>
              <a:gd name="adj" fmla="val 66667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402" y="2773263"/>
            <a:ext cx="20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07554" y="2758976"/>
            <a:ext cx="10436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Consumer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9901" y="2989064"/>
            <a:ext cx="312292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Seniors aging at home, family caregivers, disability community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99901" y="3155305"/>
            <a:ext cx="31229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AutoGlide:</a:t>
            </a:r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Full autonomous navigation, health suite, family dashboard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9901" y="3422005"/>
            <a:ext cx="31229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$5,500-9,500 | CareConnect: $29-79/month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798094" y="618976"/>
            <a:ext cx="2321719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78407" y="682377"/>
            <a:ext cx="21610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8094" y="942529"/>
            <a:ext cx="2321719" cy="593527"/>
          </a:xfrm>
          <a:prstGeom prst="roundRect">
            <a:avLst>
              <a:gd name="adj" fmla="val 8559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878407" y="1018729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878407" y="1139279"/>
            <a:ext cx="21610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$1.07M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78407" y="1374130"/>
            <a:ext cx="2161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units | $95K subscriptions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798094" y="1599456"/>
            <a:ext cx="2321719" cy="593527"/>
          </a:xfrm>
          <a:prstGeom prst="roundRect">
            <a:avLst>
              <a:gd name="adj" fmla="val 8559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78407" y="1675656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78407" y="1796207"/>
            <a:ext cx="21610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$3.75M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78407" y="2031057"/>
            <a:ext cx="2161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units | $500K subscriptions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798094" y="2256383"/>
            <a:ext cx="2321719" cy="593527"/>
          </a:xfrm>
          <a:prstGeom prst="roundRect">
            <a:avLst>
              <a:gd name="adj" fmla="val 8559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78407" y="2332583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78407" y="2453134"/>
            <a:ext cx="21610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$8.65M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78407" y="2687985"/>
            <a:ext cx="2161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 units | $1.5M subscriptions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798094" y="2913311"/>
            <a:ext cx="2321719" cy="542776"/>
          </a:xfrm>
          <a:prstGeom prst="roundRect">
            <a:avLst>
              <a:gd name="adj" fmla="val 9359"/>
            </a:avLst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78407" y="2989511"/>
            <a:ext cx="21610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78407" y="3110061"/>
            <a:ext cx="21610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78407" y="3294162"/>
            <a:ext cx="21610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F0F5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Chair Market by 2034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310313" y="618976"/>
            <a:ext cx="2579787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88045" y="682377"/>
            <a:ext cx="2424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10313" y="942529"/>
            <a:ext cx="2579787" cy="460474"/>
          </a:xfrm>
          <a:prstGeom prst="roundRect">
            <a:avLst>
              <a:gd name="adj" fmla="val 110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329363" y="942529"/>
            <a:ext cx="0" cy="46047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9913" y="1005929"/>
            <a:ext cx="2385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VALIDATE (M1-12)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449913" y="1126480"/>
            <a:ext cx="238545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programs with 3-5 nursing homes and VA hospitals. Build clinical evidence and reference customers.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310313" y="1466404"/>
            <a:ext cx="2579787" cy="460474"/>
          </a:xfrm>
          <a:prstGeom prst="roundRect">
            <a:avLst>
              <a:gd name="adj" fmla="val 110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329363" y="1466404"/>
            <a:ext cx="0" cy="46047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9913" y="1529804"/>
            <a:ext cx="2385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LAUNCH (M9-18)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449913" y="1650355"/>
            <a:ext cx="238545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launch via DME dealers, e-commerce, healthcare provider referrals.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10313" y="1990279"/>
            <a:ext cx="2579787" cy="460474"/>
          </a:xfrm>
          <a:prstGeom prst="roundRect">
            <a:avLst>
              <a:gd name="adj" fmla="val 11032"/>
            </a:avLst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329363" y="1990279"/>
            <a:ext cx="0" cy="460474"/>
          </a:xfrm>
          <a:prstGeom prst="line">
            <a:avLst/>
          </a:prstGeom>
          <a:noFill/>
          <a:ln w="38100">
            <a:solidFill>
              <a:srgbClr val="D4A5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9913" y="2053679"/>
            <a:ext cx="23854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SCALE (Y2-3)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49913" y="2174230"/>
            <a:ext cx="238545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reimbursement, insurance partnerships, international expansion (UK NHS, EU).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310313" y="2552254"/>
            <a:ext cx="2579787" cy="260152"/>
          </a:xfrm>
          <a:prstGeom prst="roundRect">
            <a:avLst>
              <a:gd name="adj" fmla="val 19527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388045" y="2615654"/>
            <a:ext cx="2424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10313" y="2875806"/>
            <a:ext cx="817662" cy="415677"/>
          </a:xfrm>
          <a:prstGeom prst="roundRect">
            <a:avLst>
              <a:gd name="adj" fmla="val 1222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379860" y="2939207"/>
            <a:ext cx="678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379860" y="3047107"/>
            <a:ext cx="6785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point-to-point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191375" y="2875806"/>
            <a:ext cx="817662" cy="415677"/>
          </a:xfrm>
          <a:prstGeom prst="roundRect">
            <a:avLst>
              <a:gd name="adj" fmla="val 1222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260922" y="2939207"/>
            <a:ext cx="6785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Health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260922" y="3142357"/>
            <a:ext cx="6785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8072438" y="2875806"/>
            <a:ext cx="817662" cy="415677"/>
          </a:xfrm>
          <a:prstGeom prst="roundRect">
            <a:avLst>
              <a:gd name="adj" fmla="val 12221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41985" y="2939207"/>
            <a:ext cx="67856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Market-Ready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141985" y="3047107"/>
            <a:ext cx="6785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0" y="4610398"/>
            <a:ext cx="9144000" cy="533102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46046" y="4737199"/>
            <a:ext cx="8012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46046" y="4921300"/>
            <a:ext cx="8012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Investment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348814" y="4737199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50-55%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348814" y="49213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Gross Margin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471425" y="4737199"/>
            <a:ext cx="8212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2471425" y="4921300"/>
            <a:ext cx="8212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510(k) Timeline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594126" y="4737199"/>
            <a:ext cx="8120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A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CAGR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594126" y="4921300"/>
            <a:ext cx="8120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 Rate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7412584" y="4711898"/>
            <a:ext cx="14775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MobilityPro Health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412584" y="4908649"/>
            <a:ext cx="14775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Limitation to Liberation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MobilityPro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MobilityPro Health - Smart Wheelchair Investor Pitch</dc:title>
  <dc:subject>Investor Presentation - Smart Autonomous Wheelchair</dc:subject>
  <dc:creator>MobilityPro Health Team</dc:creator>
  <cp:lastModifiedBy>MobilityPro Health Team</cp:lastModifiedBy>
  <cp:revision>1</cp:revision>
  <dcterms:created xsi:type="dcterms:W3CDTF">2026-01-24T15:22:49Z</dcterms:created>
  <dcterms:modified xsi:type="dcterms:W3CDTF">2026-01-24T15:22:49Z</dcterms:modified>
</cp:coreProperties>
</file>