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E07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4901" y="881360"/>
            <a:ext cx="4404613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3800" b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MobilityPro Health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34901" y="2068711"/>
            <a:ext cx="440461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500"/>
              </a:spcAft>
              <a:buNone/>
            </a:pPr>
            <a:r>
              <a:rPr lang="en-US" sz="1800" i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Independence. Dignity. Peace of Mind.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34901" y="2643336"/>
            <a:ext cx="4318248" cy="403027"/>
          </a:xfrm>
          <a:prstGeom prst="roundRect">
            <a:avLst>
              <a:gd name="adj" fmla="val 63023"/>
            </a:avLst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88802" y="2744837"/>
            <a:ext cx="388665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Autonomous Wheelchair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34901" y="3300264"/>
            <a:ext cx="4404613" cy="74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A5A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Revolutionizing elderly mobility with AI-powered navigation, continuous health monitoring, and connected care.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61099" y="1192113"/>
            <a:ext cx="2539901" cy="2539901"/>
          </a:xfrm>
          <a:prstGeom prst="roundRect">
            <a:avLst>
              <a:gd name="adj" fmla="val 36001"/>
            </a:avLst>
          </a:prstGeom>
          <a:solidFill>
            <a:srgbClr val="87A96B"/>
          </a:solidFill>
          <a:ln/>
          <a:effectLst>
            <a:outerShdw sx="100000" sy="100000" kx="0" ky="0" algn="bl" rotWithShape="0" blurRad="190500" dist="71842" dir="2700000">
              <a:srgbClr val="000000">
                <a:alpha val="1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842099" y="1573113"/>
            <a:ext cx="1777901" cy="1777901"/>
          </a:xfrm>
          <a:prstGeom prst="roundRect">
            <a:avLst>
              <a:gd name="adj" fmla="val 51431"/>
            </a:avLst>
          </a:prstGeom>
          <a:solidFill>
            <a:srgbClr val="F4F1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205389" y="2114401"/>
            <a:ext cx="1072348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800"/>
              </a:spcBef>
              <a:spcAft>
                <a:spcPts val="4800"/>
              </a:spcAft>
              <a:buNone/>
            </a:pPr>
            <a:r>
              <a:rPr lang="en-US" sz="4800" b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MP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0" y="4695825"/>
            <a:ext cx="9144000" cy="447675"/>
          </a:xfrm>
          <a:prstGeom prst="rect">
            <a:avLst/>
          </a:prstGeom>
          <a:solidFill>
            <a:srgbClr val="2C2C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34901" y="4848225"/>
            <a:ext cx="15661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4F1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Investor Presentation 2026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685657" y="4848225"/>
            <a:ext cx="185991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4F1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Transforming Comfy Chairs Ltd.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00075"/>
          </a:xfrm>
          <a:prstGeom prst="rect">
            <a:avLst/>
          </a:prstGeom>
          <a:solidFill>
            <a:srgbClr val="2C2C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52400"/>
            <a:ext cx="829066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4F1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We Solve and Our Solution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7950" y="790575"/>
            <a:ext cx="3905250" cy="3730675"/>
          </a:xfrm>
          <a:prstGeom prst="rect">
            <a:avLst/>
          </a:prstGeom>
          <a:solidFill>
            <a:srgbClr val="FDF6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36525" y="790575"/>
            <a:ext cx="0" cy="3730675"/>
          </a:xfrm>
          <a:prstGeom prst="line">
            <a:avLst/>
          </a:prstGeom>
          <a:noFill/>
          <a:ln w="57150">
            <a:solidFill>
              <a:srgbClr val="E07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5600" y="981075"/>
            <a:ext cx="353644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55600" y="1317575"/>
            <a:ext cx="3467100" cy="628352"/>
          </a:xfrm>
          <a:prstGeom prst="roundRect">
            <a:avLst>
              <a:gd name="adj" fmla="val 121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7960" dir="27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82551" y="1419076"/>
            <a:ext cx="327746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 Million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82551" y="1711077"/>
            <a:ext cx="327746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worldwide need wheelchairs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55600" y="2047429"/>
            <a:ext cx="3467100" cy="628352"/>
          </a:xfrm>
          <a:prstGeom prst="roundRect">
            <a:avLst>
              <a:gd name="adj" fmla="val 121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7960" dir="27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82551" y="2148929"/>
            <a:ext cx="327746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22%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82551" y="2440930"/>
            <a:ext cx="327746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growth next decade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55600" y="2777282"/>
            <a:ext cx="3536442" cy="329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wheelchairs create total dependency on caregivers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55600" y="3183285"/>
            <a:ext cx="3536442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issues go undetected until emergencies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55600" y="3424386"/>
            <a:ext cx="3536442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Severe caregiver shortage globally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30651" y="790575"/>
            <a:ext cx="3905399" cy="3730675"/>
          </a:xfrm>
          <a:prstGeom prst="rect">
            <a:avLst/>
          </a:prstGeom>
          <a:solidFill>
            <a:srgbClr val="F0F5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759226" y="790575"/>
            <a:ext cx="0" cy="3730675"/>
          </a:xfrm>
          <a:prstGeom prst="line">
            <a:avLst/>
          </a:prstGeom>
          <a:noFill/>
          <a:ln w="57150">
            <a:solidFill>
              <a:srgbClr val="87A9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78301" y="981075"/>
            <a:ext cx="353659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87A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AUTOGLIDE AND VITALRIDE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78301" y="1317575"/>
            <a:ext cx="3467249" cy="504527"/>
          </a:xfrm>
          <a:prstGeom prst="roundRect">
            <a:avLst>
              <a:gd name="adj" fmla="val 151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7960" dir="27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105251" y="1419076"/>
            <a:ext cx="327761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87A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Navigation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105251" y="1587252"/>
            <a:ext cx="327761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LiDAR + AI enables travel without assistance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978301" y="1898303"/>
            <a:ext cx="3467249" cy="504527"/>
          </a:xfrm>
          <a:prstGeom prst="roundRect">
            <a:avLst>
              <a:gd name="adj" fmla="val 151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7960" dir="27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105251" y="1999804"/>
            <a:ext cx="327761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87A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Monitoring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105251" y="2167979"/>
            <a:ext cx="327761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heart rate and respiratory tracking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978301" y="2479030"/>
            <a:ext cx="3467249" cy="504527"/>
          </a:xfrm>
          <a:prstGeom prst="roundRect">
            <a:avLst>
              <a:gd name="adj" fmla="val 151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7960" dir="27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105251" y="2580531"/>
            <a:ext cx="327761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87A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Safety Alerts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105251" y="2748707"/>
            <a:ext cx="327761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 detection, geofencing, emergency SOS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978301" y="3059757"/>
            <a:ext cx="3467249" cy="504527"/>
          </a:xfrm>
          <a:prstGeom prst="roundRect">
            <a:avLst>
              <a:gd name="adj" fmla="val 151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7960" dir="27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105251" y="3161258"/>
            <a:ext cx="327761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87A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Family Care Dashboard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105251" y="3329434"/>
            <a:ext cx="327761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monitoring and telehealth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0" y="4711750"/>
            <a:ext cx="9144000" cy="431750"/>
          </a:xfrm>
          <a:prstGeom prst="rect">
            <a:avLst/>
          </a:prstGeom>
          <a:solidFill>
            <a:srgbClr val="F4F1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1994158" y="4787950"/>
            <a:ext cx="144108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$2.8B Market by 2034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994158" y="4953000"/>
            <a:ext cx="144108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8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Chair Segment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043443" y="4787950"/>
            <a:ext cx="12821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 CAGR Growth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043443" y="4953000"/>
            <a:ext cx="128214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8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Furniture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936040" y="4787950"/>
            <a:ext cx="121140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18.8B IoT Devices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936040" y="4953000"/>
            <a:ext cx="121140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8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Connected Ecosystem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206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26950"/>
            <a:ext cx="82906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 and Data Collection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81000" y="673001"/>
            <a:ext cx="2667000" cy="260152"/>
          </a:xfrm>
          <a:prstGeom prst="roundRect">
            <a:avLst>
              <a:gd name="adj" fmla="val 19527"/>
            </a:avLst>
          </a:prstGeom>
          <a:solidFill>
            <a:srgbClr val="2C2C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861" y="736402"/>
            <a:ext cx="251327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81000" y="1009352"/>
            <a:ext cx="2667000" cy="425351"/>
          </a:xfrm>
          <a:prstGeom prst="roundRect">
            <a:avLst>
              <a:gd name="adj" fmla="val 11943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00050" y="1009352"/>
            <a:ext cx="0" cy="425351"/>
          </a:xfrm>
          <a:prstGeom prst="line">
            <a:avLst/>
          </a:prstGeom>
          <a:noFill/>
          <a:ln w="38100">
            <a:solidFill>
              <a:srgbClr val="87A9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0601" y="1085552"/>
            <a:ext cx="247441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LiDAR + Computer Vision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20601" y="1244203"/>
            <a:ext cx="247441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point-to-point travel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81000" y="1510903"/>
            <a:ext cx="2667000" cy="425351"/>
          </a:xfrm>
          <a:prstGeom prst="roundRect">
            <a:avLst>
              <a:gd name="adj" fmla="val 11943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00050" y="1510903"/>
            <a:ext cx="0" cy="425351"/>
          </a:xfrm>
          <a:prstGeom prst="line">
            <a:avLst/>
          </a:prstGeom>
          <a:noFill/>
          <a:ln w="38100">
            <a:solidFill>
              <a:srgbClr val="87A9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0601" y="1587103"/>
            <a:ext cx="247441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UWB Indoor Positioning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20601" y="1745754"/>
            <a:ext cx="247441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Sub-10cm accuracy indoors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81000" y="2012454"/>
            <a:ext cx="2667000" cy="425351"/>
          </a:xfrm>
          <a:prstGeom prst="roundRect">
            <a:avLst>
              <a:gd name="adj" fmla="val 11943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00050" y="2012454"/>
            <a:ext cx="0" cy="425351"/>
          </a:xfrm>
          <a:prstGeom prst="line">
            <a:avLst/>
          </a:prstGeom>
          <a:noFill/>
          <a:ln w="38100">
            <a:solidFill>
              <a:srgbClr val="87A9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0601" y="2088654"/>
            <a:ext cx="247441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Route Learning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20601" y="2247305"/>
            <a:ext cx="247441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Optimizes paths over time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81000" y="2514005"/>
            <a:ext cx="2667000" cy="425351"/>
          </a:xfrm>
          <a:prstGeom prst="roundRect">
            <a:avLst>
              <a:gd name="adj" fmla="val 11943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400050" y="2514005"/>
            <a:ext cx="0" cy="425351"/>
          </a:xfrm>
          <a:prstGeom prst="line">
            <a:avLst/>
          </a:prstGeom>
          <a:noFill/>
          <a:ln w="38100">
            <a:solidFill>
              <a:srgbClr val="87A9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0601" y="2590205"/>
            <a:ext cx="247441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Building APIs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20601" y="2748855"/>
            <a:ext cx="247441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Auto-calls elevators, opens doors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238500" y="673001"/>
            <a:ext cx="2667000" cy="260152"/>
          </a:xfrm>
          <a:prstGeom prst="roundRect">
            <a:avLst>
              <a:gd name="adj" fmla="val 19527"/>
            </a:avLst>
          </a:prstGeom>
          <a:solidFill>
            <a:srgbClr val="2C2C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315361" y="736402"/>
            <a:ext cx="251327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MONITORING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238500" y="1009352"/>
            <a:ext cx="2667000" cy="425351"/>
          </a:xfrm>
          <a:prstGeom prst="roundRect">
            <a:avLst>
              <a:gd name="adj" fmla="val 11943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3257550" y="1009352"/>
            <a:ext cx="0" cy="425351"/>
          </a:xfrm>
          <a:prstGeom prst="line">
            <a:avLst/>
          </a:prstGeom>
          <a:noFill/>
          <a:ln w="38100">
            <a:solidFill>
              <a:srgbClr val="E07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78101" y="1085552"/>
            <a:ext cx="247441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PPG Heart Rate Sensor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378101" y="1244203"/>
            <a:ext cx="247441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Armrest-integrated monitoring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238500" y="1510903"/>
            <a:ext cx="2667000" cy="425351"/>
          </a:xfrm>
          <a:prstGeom prst="roundRect">
            <a:avLst>
              <a:gd name="adj" fmla="val 11943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3257550" y="1510903"/>
            <a:ext cx="0" cy="425351"/>
          </a:xfrm>
          <a:prstGeom prst="line">
            <a:avLst/>
          </a:prstGeom>
          <a:noFill/>
          <a:ln w="38100">
            <a:solidFill>
              <a:srgbClr val="E07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78101" y="1587103"/>
            <a:ext cx="247441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Respiratory Detection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378101" y="1745754"/>
            <a:ext cx="247441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Piezoelectric breathing sensor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238500" y="2012454"/>
            <a:ext cx="2667000" cy="425351"/>
          </a:xfrm>
          <a:prstGeom prst="roundRect">
            <a:avLst>
              <a:gd name="adj" fmla="val 11943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3257550" y="2012454"/>
            <a:ext cx="0" cy="425351"/>
          </a:xfrm>
          <a:prstGeom prst="line">
            <a:avLst/>
          </a:prstGeom>
          <a:noFill/>
          <a:ln w="38100">
            <a:solidFill>
              <a:srgbClr val="E07A5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78101" y="2088654"/>
            <a:ext cx="247441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 Detection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378101" y="2247305"/>
            <a:ext cx="247441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9-axis IMU with instant alerts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238500" y="2514005"/>
            <a:ext cx="2667000" cy="425351"/>
          </a:xfrm>
          <a:prstGeom prst="roundRect">
            <a:avLst>
              <a:gd name="adj" fmla="val 11943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Shape 35"/>
          <p:cNvSpPr/>
          <p:nvPr/>
        </p:nvSpPr>
        <p:spPr>
          <a:xfrm>
            <a:off x="3257550" y="2514005"/>
            <a:ext cx="0" cy="425351"/>
          </a:xfrm>
          <a:prstGeom prst="line">
            <a:avLst/>
          </a:prstGeom>
          <a:noFill/>
          <a:ln w="38100">
            <a:solidFill>
              <a:srgbClr val="E07A5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78101" y="2590205"/>
            <a:ext cx="247441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AI Processing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378101" y="2748855"/>
            <a:ext cx="247441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On-device anomaly detection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096000" y="673001"/>
            <a:ext cx="2667000" cy="260152"/>
          </a:xfrm>
          <a:prstGeom prst="roundRect">
            <a:avLst>
              <a:gd name="adj" fmla="val 19527"/>
            </a:avLst>
          </a:prstGeom>
          <a:solidFill>
            <a:srgbClr val="2C2C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6172861" y="736402"/>
            <a:ext cx="251327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CONNECTIVITY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096000" y="1009352"/>
            <a:ext cx="2667000" cy="425351"/>
          </a:xfrm>
          <a:prstGeom prst="roundRect">
            <a:avLst>
              <a:gd name="adj" fmla="val 11943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Shape 41"/>
          <p:cNvSpPr/>
          <p:nvPr/>
        </p:nvSpPr>
        <p:spPr>
          <a:xfrm>
            <a:off x="6115050" y="1009352"/>
            <a:ext cx="0" cy="425351"/>
          </a:xfrm>
          <a:prstGeom prst="line">
            <a:avLst/>
          </a:prstGeom>
          <a:noFill/>
          <a:ln w="38100">
            <a:solidFill>
              <a:srgbClr val="D4A57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35601" y="1085552"/>
            <a:ext cx="247441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Family Care Dashboard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235601" y="1244203"/>
            <a:ext cx="247441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portal for caregivers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096000" y="1510903"/>
            <a:ext cx="2667000" cy="425351"/>
          </a:xfrm>
          <a:prstGeom prst="roundRect">
            <a:avLst>
              <a:gd name="adj" fmla="val 11943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Shape 45"/>
          <p:cNvSpPr/>
          <p:nvPr/>
        </p:nvSpPr>
        <p:spPr>
          <a:xfrm>
            <a:off x="6115050" y="1510903"/>
            <a:ext cx="0" cy="425351"/>
          </a:xfrm>
          <a:prstGeom prst="line">
            <a:avLst/>
          </a:prstGeom>
          <a:noFill/>
          <a:ln w="38100">
            <a:solidFill>
              <a:srgbClr val="D4A57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35601" y="1587103"/>
            <a:ext cx="247441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Telehealth Integration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235601" y="1745754"/>
            <a:ext cx="247441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In-chair video consultations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096000" y="2012454"/>
            <a:ext cx="2667000" cy="425351"/>
          </a:xfrm>
          <a:prstGeom prst="roundRect">
            <a:avLst>
              <a:gd name="adj" fmla="val 11943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Shape 49"/>
          <p:cNvSpPr/>
          <p:nvPr/>
        </p:nvSpPr>
        <p:spPr>
          <a:xfrm>
            <a:off x="6115050" y="2012454"/>
            <a:ext cx="0" cy="425351"/>
          </a:xfrm>
          <a:prstGeom prst="line">
            <a:avLst/>
          </a:prstGeom>
          <a:noFill/>
          <a:ln w="38100">
            <a:solidFill>
              <a:srgbClr val="D4A57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235601" y="2088654"/>
            <a:ext cx="247441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Geofencing SafeZone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235601" y="2247305"/>
            <a:ext cx="247441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GPS + UWB boundary alerts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6096000" y="2514005"/>
            <a:ext cx="2667000" cy="425351"/>
          </a:xfrm>
          <a:prstGeom prst="roundRect">
            <a:avLst>
              <a:gd name="adj" fmla="val 11943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Shape 53"/>
          <p:cNvSpPr/>
          <p:nvPr/>
        </p:nvSpPr>
        <p:spPr>
          <a:xfrm>
            <a:off x="6115050" y="2514005"/>
            <a:ext cx="0" cy="425351"/>
          </a:xfrm>
          <a:prstGeom prst="line">
            <a:avLst/>
          </a:prstGeom>
          <a:noFill/>
          <a:ln w="38100">
            <a:solidFill>
              <a:srgbClr val="D4A57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235601" y="2590205"/>
            <a:ext cx="247441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SOS Emergency Button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6235601" y="2748855"/>
            <a:ext cx="247441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911 connection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0" y="3854797"/>
            <a:ext cx="9144000" cy="914102"/>
          </a:xfrm>
          <a:prstGeom prst="rect">
            <a:avLst/>
          </a:prstGeom>
          <a:solidFill>
            <a:srgbClr val="F4F1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297180" y="3981748"/>
            <a:ext cx="85496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We Collect and Why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381000" y="4235648"/>
            <a:ext cx="1574750" cy="406301"/>
          </a:xfrm>
          <a:prstGeom prst="roundRect">
            <a:avLst>
              <a:gd name="adj" fmla="val 125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7960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442976" y="4311848"/>
            <a:ext cx="145079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87A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Heart Rate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442976" y="4470499"/>
            <a:ext cx="145079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cardiac warning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2082701" y="4235648"/>
            <a:ext cx="1574899" cy="406301"/>
          </a:xfrm>
          <a:prstGeom prst="roundRect">
            <a:avLst>
              <a:gd name="adj" fmla="val 125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7960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62"/>
          <p:cNvSpPr/>
          <p:nvPr/>
        </p:nvSpPr>
        <p:spPr>
          <a:xfrm>
            <a:off x="2144676" y="4311848"/>
            <a:ext cx="14509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87A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Respiratory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2144676" y="4470499"/>
            <a:ext cx="145094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Breathing problems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3784550" y="4235648"/>
            <a:ext cx="1574750" cy="406301"/>
          </a:xfrm>
          <a:prstGeom prst="roundRect">
            <a:avLst>
              <a:gd name="adj" fmla="val 125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7960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Text 65"/>
          <p:cNvSpPr/>
          <p:nvPr/>
        </p:nvSpPr>
        <p:spPr>
          <a:xfrm>
            <a:off x="3846527" y="4311848"/>
            <a:ext cx="145079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87A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3846527" y="4470499"/>
            <a:ext cx="145079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and navigation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5486251" y="4235648"/>
            <a:ext cx="1574899" cy="406301"/>
          </a:xfrm>
          <a:prstGeom prst="roundRect">
            <a:avLst>
              <a:gd name="adj" fmla="val 125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7960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0" name="Text 68"/>
          <p:cNvSpPr/>
          <p:nvPr/>
        </p:nvSpPr>
        <p:spPr>
          <a:xfrm>
            <a:off x="5548226" y="4311848"/>
            <a:ext cx="14509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87A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5548226" y="4470499"/>
            <a:ext cx="145094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Mobility wellness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7188101" y="4235648"/>
            <a:ext cx="1574899" cy="406301"/>
          </a:xfrm>
          <a:prstGeom prst="roundRect">
            <a:avLst>
              <a:gd name="adj" fmla="val 125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7960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3" name="Text 71"/>
          <p:cNvSpPr/>
          <p:nvPr/>
        </p:nvSpPr>
        <p:spPr>
          <a:xfrm>
            <a:off x="7250076" y="4311848"/>
            <a:ext cx="14509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87A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Falls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7250076" y="4470499"/>
            <a:ext cx="145094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response</a:t>
            </a:r>
            <a:endParaRPr lang="en-US" sz="700" dirty="0"/>
          </a:p>
        </p:txBody>
      </p:sp>
      <p:sp>
        <p:nvSpPr>
          <p:cNvPr id="75" name="Text 73"/>
          <p:cNvSpPr/>
          <p:nvPr/>
        </p:nvSpPr>
        <p:spPr>
          <a:xfrm>
            <a:off x="0" y="4768900"/>
            <a:ext cx="9144000" cy="374600"/>
          </a:xfrm>
          <a:prstGeom prst="rect">
            <a:avLst/>
          </a:prstGeom>
          <a:solidFill>
            <a:srgbClr val="2C2C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6" name="Text 74"/>
          <p:cNvSpPr/>
          <p:nvPr/>
        </p:nvSpPr>
        <p:spPr>
          <a:xfrm>
            <a:off x="1079641" y="4845100"/>
            <a:ext cx="84585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7A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HIPAA Compliant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1079641" y="4972050"/>
            <a:ext cx="84585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 security</a:t>
            </a:r>
            <a:endParaRPr lang="en-US" sz="700" dirty="0"/>
          </a:p>
        </p:txBody>
      </p:sp>
      <p:sp>
        <p:nvSpPr>
          <p:cNvPr id="78" name="Text 76"/>
          <p:cNvSpPr/>
          <p:nvPr/>
        </p:nvSpPr>
        <p:spPr>
          <a:xfrm>
            <a:off x="3325292" y="4845100"/>
            <a:ext cx="61981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7A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FDA Class II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3325292" y="4972050"/>
            <a:ext cx="61981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510(k) pathway</a:t>
            </a:r>
            <a:endParaRPr lang="en-US" sz="700" dirty="0"/>
          </a:p>
        </p:txBody>
      </p:sp>
      <p:sp>
        <p:nvSpPr>
          <p:cNvPr id="80" name="Text 78"/>
          <p:cNvSpPr/>
          <p:nvPr/>
        </p:nvSpPr>
        <p:spPr>
          <a:xfrm>
            <a:off x="5346597" y="4845100"/>
            <a:ext cx="67340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7A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Consent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5346597" y="4972050"/>
            <a:ext cx="67340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Opt-in data</a:t>
            </a:r>
            <a:endParaRPr lang="en-US" sz="700" dirty="0"/>
          </a:p>
        </p:txBody>
      </p:sp>
      <p:sp>
        <p:nvSpPr>
          <p:cNvPr id="82" name="Text 80"/>
          <p:cNvSpPr/>
          <p:nvPr/>
        </p:nvSpPr>
        <p:spPr>
          <a:xfrm>
            <a:off x="7421133" y="4845100"/>
            <a:ext cx="64091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7A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On-Device AI</a:t>
            </a:r>
            <a:endParaRPr lang="en-US" sz="800" dirty="0"/>
          </a:p>
        </p:txBody>
      </p:sp>
      <p:sp>
        <p:nvSpPr>
          <p:cNvPr id="83" name="Text 81"/>
          <p:cNvSpPr/>
          <p:nvPr/>
        </p:nvSpPr>
        <p:spPr>
          <a:xfrm>
            <a:off x="7421133" y="4972050"/>
            <a:ext cx="64091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offline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20601"/>
          </a:xfrm>
          <a:prstGeom prst="rect">
            <a:avLst/>
          </a:prstGeom>
          <a:solidFill>
            <a:srgbClr val="E07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26950"/>
            <a:ext cx="82906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 and Growth Strategy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81000" y="673001"/>
            <a:ext cx="3097113" cy="1764060"/>
          </a:xfrm>
          <a:prstGeom prst="roundRect">
            <a:avLst>
              <a:gd name="adj" fmla="val 4320"/>
            </a:avLst>
          </a:prstGeom>
          <a:solidFill>
            <a:srgbClr val="F0F5ED"/>
          </a:solidFill>
          <a:ln w="19050">
            <a:solidFill>
              <a:srgbClr val="87A9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52450" y="819001"/>
            <a:ext cx="406152" cy="190500"/>
          </a:xfrm>
          <a:prstGeom prst="roundRect">
            <a:avLst>
              <a:gd name="adj" fmla="val 66667"/>
            </a:avLst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53951" y="857101"/>
            <a:ext cx="20721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60103" y="838051"/>
            <a:ext cx="13776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 Facilities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52450" y="1085701"/>
            <a:ext cx="2809298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Nursing homes, rehab centers, hospitals, VA facilities. Hardware sales plus fleet management subscription.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52450" y="1400473"/>
            <a:ext cx="280929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Product: VitalRide - Monitoring-focused for facilities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81000" y="2538561"/>
            <a:ext cx="3097113" cy="1764060"/>
          </a:xfrm>
          <a:prstGeom prst="roundRect">
            <a:avLst>
              <a:gd name="adj" fmla="val 4320"/>
            </a:avLst>
          </a:prstGeom>
          <a:solidFill>
            <a:srgbClr val="FDF6F0"/>
          </a:solidFill>
          <a:ln w="19050">
            <a:solidFill>
              <a:srgbClr val="E07A5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52450" y="2684562"/>
            <a:ext cx="406152" cy="190500"/>
          </a:xfrm>
          <a:prstGeom prst="roundRect">
            <a:avLst>
              <a:gd name="adj" fmla="val 66667"/>
            </a:avLst>
          </a:prstGeom>
          <a:solidFill>
            <a:srgbClr val="E07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53951" y="2722662"/>
            <a:ext cx="20721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B2C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060103" y="2703612"/>
            <a:ext cx="114764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Consumer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52450" y="2951262"/>
            <a:ext cx="2809298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Seniors aging at home, family caregivers, disability community. Hardware plus CareConnect subscription.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52450" y="3266033"/>
            <a:ext cx="280929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Product: AutoGlide - Full autonomous navigation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668613" y="673001"/>
            <a:ext cx="2580977" cy="260152"/>
          </a:xfrm>
          <a:prstGeom prst="roundRect">
            <a:avLst>
              <a:gd name="adj" fmla="val 19527"/>
            </a:avLst>
          </a:prstGeom>
          <a:solidFill>
            <a:srgbClr val="2C2C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772293" y="736402"/>
            <a:ext cx="237361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PROJECTION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668613" y="1009352"/>
            <a:ext cx="2580977" cy="701278"/>
          </a:xfrm>
          <a:prstGeom prst="roundRect">
            <a:avLst>
              <a:gd name="adj" fmla="val 10866"/>
            </a:avLst>
          </a:prstGeom>
          <a:solidFill>
            <a:srgbClr val="F4F1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772293" y="1110853"/>
            <a:ext cx="237361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1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772293" y="1250454"/>
            <a:ext cx="237361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$1.07M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772293" y="1513880"/>
            <a:ext cx="237361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 units plus $95K subscriptions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3668613" y="1786830"/>
            <a:ext cx="2580977" cy="701278"/>
          </a:xfrm>
          <a:prstGeom prst="roundRect">
            <a:avLst>
              <a:gd name="adj" fmla="val 10866"/>
            </a:avLst>
          </a:prstGeom>
          <a:solidFill>
            <a:srgbClr val="F4F1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772293" y="1888331"/>
            <a:ext cx="237361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2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772293" y="2027932"/>
            <a:ext cx="237361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$3.75M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772293" y="2291358"/>
            <a:ext cx="237361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units plus $500K subscriptions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3668613" y="2564309"/>
            <a:ext cx="2580977" cy="701278"/>
          </a:xfrm>
          <a:prstGeom prst="roundRect">
            <a:avLst>
              <a:gd name="adj" fmla="val 10866"/>
            </a:avLst>
          </a:prstGeom>
          <a:solidFill>
            <a:srgbClr val="F4F1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3772293" y="2665809"/>
            <a:ext cx="237361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3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772293" y="2805410"/>
            <a:ext cx="237361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$8.65M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3772293" y="3068836"/>
            <a:ext cx="237361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1,100 units plus $1.5M subscriptions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6440091" y="673001"/>
            <a:ext cx="2322909" cy="260152"/>
          </a:xfrm>
          <a:prstGeom prst="roundRect">
            <a:avLst>
              <a:gd name="adj" fmla="val 19527"/>
            </a:avLst>
          </a:prstGeom>
          <a:solidFill>
            <a:srgbClr val="2C2C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546351" y="736402"/>
            <a:ext cx="211038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GO-TO-MARKET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440091" y="1009352"/>
            <a:ext cx="2322909" cy="516731"/>
          </a:xfrm>
          <a:prstGeom prst="roundRect">
            <a:avLst>
              <a:gd name="adj" fmla="val 9831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6459141" y="1009352"/>
            <a:ext cx="0" cy="516731"/>
          </a:xfrm>
          <a:prstGeom prst="line">
            <a:avLst/>
          </a:prstGeom>
          <a:noFill/>
          <a:ln w="38100">
            <a:solidFill>
              <a:srgbClr val="D4A57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79691" y="1085552"/>
            <a:ext cx="212344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(M1-12)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6579691" y="1206103"/>
            <a:ext cx="2123444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pilots with nursing homes and VA hospitals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440091" y="1602284"/>
            <a:ext cx="2322909" cy="516731"/>
          </a:xfrm>
          <a:prstGeom prst="roundRect">
            <a:avLst>
              <a:gd name="adj" fmla="val 9831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Shape 35"/>
          <p:cNvSpPr/>
          <p:nvPr/>
        </p:nvSpPr>
        <p:spPr>
          <a:xfrm>
            <a:off x="6459141" y="1602284"/>
            <a:ext cx="0" cy="516731"/>
          </a:xfrm>
          <a:prstGeom prst="line">
            <a:avLst/>
          </a:prstGeom>
          <a:noFill/>
          <a:ln w="38100">
            <a:solidFill>
              <a:srgbClr val="D4A57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79691" y="1678484"/>
            <a:ext cx="212344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(M9-18)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6579691" y="1799034"/>
            <a:ext cx="2123444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 launch via DME dealers and e-commerce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440091" y="2195215"/>
            <a:ext cx="2322909" cy="394841"/>
          </a:xfrm>
          <a:prstGeom prst="roundRect">
            <a:avLst>
              <a:gd name="adj" fmla="val 12866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Shape 39"/>
          <p:cNvSpPr/>
          <p:nvPr/>
        </p:nvSpPr>
        <p:spPr>
          <a:xfrm>
            <a:off x="6459141" y="2195215"/>
            <a:ext cx="0" cy="394841"/>
          </a:xfrm>
          <a:prstGeom prst="line">
            <a:avLst/>
          </a:prstGeom>
          <a:noFill/>
          <a:ln w="38100">
            <a:solidFill>
              <a:srgbClr val="D4A57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79691" y="2271415"/>
            <a:ext cx="212344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(Y2-3)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6579691" y="2391966"/>
            <a:ext cx="2123444" cy="121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Medicare coverage, international expansion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0" y="4455021"/>
            <a:ext cx="9144000" cy="688479"/>
          </a:xfrm>
          <a:prstGeom prst="rect">
            <a:avLst/>
          </a:prstGeom>
          <a:solidFill>
            <a:srgbClr val="F4F1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370131" y="4688086"/>
            <a:ext cx="110863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7A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Autonomy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370131" y="4815036"/>
            <a:ext cx="110863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just obstacle avoidance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1713498" y="4688086"/>
            <a:ext cx="84600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7A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Health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1713498" y="4815036"/>
            <a:ext cx="84600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Built-in monitoring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2795332" y="4688086"/>
            <a:ext cx="99766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7A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Market-Ready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2795332" y="4815036"/>
            <a:ext cx="99766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research prototype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7095232" y="4556522"/>
            <a:ext cx="1667768" cy="485477"/>
          </a:xfrm>
          <a:prstGeom prst="roundRect">
            <a:avLst>
              <a:gd name="adj" fmla="val 15696"/>
            </a:avLst>
          </a:prstGeom>
          <a:solidFill>
            <a:srgbClr val="2C2C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7272864" y="4658023"/>
            <a:ext cx="131250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1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MobilityPro Health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7272864" y="4826198"/>
            <a:ext cx="131250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i="1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Limitation to Liberation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MobilityPro Health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MobilityPro Health - Smart Wheelchair Investor Pitch</dc:title>
  <dc:subject>Investor Presentation - Smart Autonomous Wheelchair</dc:subject>
  <dc:creator>MobilityPro Health Team</dc:creator>
  <cp:lastModifiedBy>MobilityPro Health Team</cp:lastModifiedBy>
  <cp:revision>1</cp:revision>
  <dcterms:created xsi:type="dcterms:W3CDTF">2026-01-22T14:50:53Z</dcterms:created>
  <dcterms:modified xsi:type="dcterms:W3CDTF">2026-01-22T14:50:53Z</dcterms:modified>
</cp:coreProperties>
</file>